
<file path=[Content_Types].xml><?xml version="1.0" encoding="utf-8"?>
<Types xmlns="http://schemas.openxmlformats.org/package/2006/content-types">
  <Default Extension="avif" ContentType="image/avif"/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7" r:id="rId3"/>
    <p:sldId id="258" r:id="rId4"/>
    <p:sldId id="259" r:id="rId5"/>
    <p:sldId id="260" r:id="rId6"/>
    <p:sldId id="261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1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792CC-F109-DDC9-4BF0-3C57B462D8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5F129-E440-3CA4-9700-7E860E2E44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3F40D3-D368-EE31-5193-14C0C2A0C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97067-C231-4209-B50C-A5EDD60DE37E}" type="datetimeFigureOut">
              <a:rPr lang="en-IN" smtClean="0"/>
              <a:t>16-02-2025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F51B18-8805-2DB9-A9AD-E5BEB9956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E0FCD-2DCD-A6BD-FAA1-68223CB93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37E65-9B98-4B46-A160-3C96846713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981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45084-09B7-D1A8-442E-20505DCFB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DB8BD-43FF-3DAC-DE6C-BA9A7A83B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C1C636-4460-A32D-E9DF-277EAA54C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97067-C231-4209-B50C-A5EDD60DE37E}" type="datetimeFigureOut">
              <a:rPr lang="en-IN" smtClean="0"/>
              <a:t>16-02-2025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7D812-2B76-D055-F629-AAE29C163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D79A3-5965-2C14-87E7-A3386D1CE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37E65-9B98-4B46-A160-3C96846713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735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81090-2ACE-CC25-07F6-3A8631958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0D0F80-B65F-438E-86C1-4092F8A080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2A5F7-0E3A-0B4B-0C40-3C205BF9A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97067-C231-4209-B50C-A5EDD60DE37E}" type="datetimeFigureOut">
              <a:rPr lang="en-IN" smtClean="0"/>
              <a:t>16-02-2025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969FA-3F6F-92A0-AB49-DCCB75F89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BCC4A-5D30-69FC-9F25-A8F826344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37E65-9B98-4B46-A160-3C96846713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1308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2FA13-8041-4EDC-D4A0-6029508AC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AAEDA-6625-FCFA-4CDF-BB1277A902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23EA4B-7A8D-A05A-D02D-5FA1172FB7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DA3C0E-F717-13BC-E1A0-9209BA830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97067-C231-4209-B50C-A5EDD60DE37E}" type="datetimeFigureOut">
              <a:rPr lang="en-IN" smtClean="0"/>
              <a:t>16-02-2025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965985-02DD-1EC9-CFD0-0F836ABC0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3B22E5-CB58-BB59-B4C2-1682C5DFF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37E65-9B98-4B46-A160-3C96846713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537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DBC32-A21B-3BB6-539A-12713F0C8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14779E-BF65-E9B1-ED6E-1A06429DB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A9723D-C1E9-C713-8154-254675E250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0D2CFE-5854-9BD1-03B0-FB44FEB58B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75E269-7E69-520A-C789-4167826905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A51506-2874-7DEB-8C6B-D12C5F017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97067-C231-4209-B50C-A5EDD60DE37E}" type="datetimeFigureOut">
              <a:rPr lang="en-IN" smtClean="0"/>
              <a:t>16-02-2025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06B686-CE6F-877C-5C7D-477961BE5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3CE590-010A-18B0-F0A2-D426EAE63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37E65-9B98-4B46-A160-3C96846713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8994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F367-326C-56A5-E58D-C0101B49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C4AA6E-2048-8C46-2ED5-9561EF346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97067-C231-4209-B50C-A5EDD60DE37E}" type="datetimeFigureOut">
              <a:rPr lang="en-IN" smtClean="0"/>
              <a:t>16-02-2025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815B90-372C-8ED8-9B3F-E2F6B0891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CC2501-7030-0BFE-C4E0-C49FEEE55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37E65-9B98-4B46-A160-3C96846713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4587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0B2F2E-03A4-0BD7-E70B-835A15138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97067-C231-4209-B50C-A5EDD60DE37E}" type="datetimeFigureOut">
              <a:rPr lang="en-IN" smtClean="0"/>
              <a:t>16-02-2025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4DD45F-C734-A599-1E01-F61C65ACB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D193F9-1496-863C-5388-12AC780B2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37E65-9B98-4B46-A160-3C96846713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079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172FA-4496-0857-E635-40E4C0996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10E85-6132-CF7A-04CB-E9657FB4F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0BD978-0256-E5A1-1BC8-71D09C4C7A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3EE598-F95B-63D2-E8A8-611A7648F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97067-C231-4209-B50C-A5EDD60DE37E}" type="datetimeFigureOut">
              <a:rPr lang="en-IN" smtClean="0"/>
              <a:t>16-02-2025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957809-52BB-EFE4-CAD9-0AE905F3F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E95C6E-149F-C688-5633-FC9CC2EAF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37E65-9B98-4B46-A160-3C96846713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7743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314A9-9688-12D9-3FE0-E1F28B837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6A554E-BF3B-2EB9-DAE1-5663A064E2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EE306E-341F-1C93-F9B7-6725DFB831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BDD9B9-1D18-5E27-227C-D7D55D393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97067-C231-4209-B50C-A5EDD60DE37E}" type="datetimeFigureOut">
              <a:rPr lang="en-IN" smtClean="0"/>
              <a:t>16-02-2025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B5F72F-C286-6878-C0C2-1EFDB5FF4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682B7C-7954-808D-D561-EAF6CB124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37E65-9B98-4B46-A160-3C96846713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183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D4390-3A19-99CC-B51A-4AB40286D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EA27B6-FCCE-CD5A-B001-120437D61A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6B69C-615C-9785-ECD1-AE641A5B4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97067-C231-4209-B50C-A5EDD60DE37E}" type="datetimeFigureOut">
              <a:rPr lang="en-IN" smtClean="0"/>
              <a:t>16-02-2025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C17876-D51F-4223-348B-043234B35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FED31D-D46D-10E0-8CA7-6818A163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37E65-9B98-4B46-A160-3C96846713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7887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460605-289E-A9F1-4C4E-02D50DD198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3388A2-4F0D-1008-2BD6-072B8F58AB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DDB97-B1AA-A13F-1294-540C7FC57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97067-C231-4209-B50C-A5EDD60DE37E}" type="datetimeFigureOut">
              <a:rPr lang="en-IN" smtClean="0"/>
              <a:t>16-02-2025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B25D4-00B5-7A36-E007-04AB3ECEF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00BF0-55FA-C805-A2F7-669AAB80A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37E65-9B98-4B46-A160-3C96846713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8667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2CA6B9-7D2E-061E-AB15-BB0E69828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8397D9-CE3D-C0D9-CF15-C1BF5828B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47F58-1F41-2D76-ADFF-CE9431E716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197067-C231-4209-B50C-A5EDD60DE37E}" type="datetimeFigureOut">
              <a:rPr lang="en-IN" smtClean="0"/>
              <a:t>16-02-2025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F34392-D180-475D-AF3E-65BF06F685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0DF4F-A553-C65C-34DC-4BD26029C9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D37E65-9B98-4B46-A160-3C96846713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1798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webp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avi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webp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webp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20000"/>
                <a:lumOff val="80000"/>
              </a:schemeClr>
            </a:gs>
            <a:gs pos="74000">
              <a:schemeClr val="accent2">
                <a:lumMod val="60000"/>
                <a:lumOff val="40000"/>
              </a:schemeClr>
            </a:gs>
            <a:gs pos="83000">
              <a:schemeClr val="accent2">
                <a:lumMod val="60000"/>
                <a:lumOff val="40000"/>
              </a:schemeClr>
            </a:gs>
            <a:gs pos="100000">
              <a:schemeClr val="accent2">
                <a:lumMod val="7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E8524-C8C3-9A72-C9D0-D22DA614B7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625" y="4257675"/>
            <a:ext cx="10629900" cy="1366837"/>
          </a:xfrm>
        </p:spPr>
        <p:txBody>
          <a:bodyPr/>
          <a:lstStyle/>
          <a:p>
            <a:r>
              <a:rPr lang="en-US" dirty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ANN , CNN, RNN,LSTM And GRU </a:t>
            </a:r>
            <a:endParaRPr lang="en-IN" dirty="0">
              <a:effectLst>
                <a:glow rad="63500">
                  <a:schemeClr val="accent1">
                    <a:satMod val="175000"/>
                    <a:alpha val="4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96369A-F8CB-872F-E85E-88FCAB1D76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009" y="245392"/>
            <a:ext cx="1874120" cy="752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749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07475-BCFD-642B-2C12-446E5682B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D8457398-1256-D839-ED46-CF5D16F45D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771" y="5708590"/>
            <a:ext cx="9144000" cy="461301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sz="1600" b="1" dirty="0"/>
              <a:t>Artificial Neural Network (ANN)</a:t>
            </a:r>
            <a:r>
              <a:rPr lang="en-US" sz="1600" dirty="0"/>
              <a:t> is a computing model inspired by the human brain, using interconnected nodes to learn patterns and make predictions.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20D7B7-C7DE-2C5E-1DF6-C14BC75C10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8982" y="594591"/>
            <a:ext cx="7620000" cy="4800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61EC24A-8A2F-18D7-FEA4-56EF5A0F75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2749" y="245392"/>
            <a:ext cx="1194379" cy="479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926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6B4AB-91F9-44F5-0353-F10CAAF8F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3430FBC4-6F1D-F8B4-8843-66FB576695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6783" y="5804251"/>
            <a:ext cx="9395361" cy="541131"/>
          </a:xfrm>
        </p:spPr>
        <p:txBody>
          <a:bodyPr>
            <a:normAutofit/>
          </a:bodyPr>
          <a:lstStyle/>
          <a:p>
            <a:pPr algn="l"/>
            <a:r>
              <a:rPr lang="en-US" sz="1500" b="1" dirty="0"/>
              <a:t>Recurrent Neural Network (RNN) </a:t>
            </a:r>
            <a:r>
              <a:rPr lang="en-US" sz="1500" dirty="0"/>
              <a:t>is a type of neural network designed for sequential data, where past inputs influence future outputs, making it ideal for tasks like speech recognition and language modeling.</a:t>
            </a:r>
            <a:endParaRPr lang="en-IN" sz="15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A1E993-B86A-C402-1AAB-E67A7EDF5E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1927" y="729090"/>
            <a:ext cx="8409086" cy="432320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589003A-03A8-197E-7F88-590F485FFB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2749" y="245392"/>
            <a:ext cx="1194379" cy="479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013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F6B03-8803-37DA-6989-498BAECF6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F1BA2D78-88DE-8897-0E3E-E56BB67E6E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574" y="5774892"/>
            <a:ext cx="9377879" cy="607435"/>
          </a:xfrm>
        </p:spPr>
        <p:txBody>
          <a:bodyPr>
            <a:normAutofit/>
          </a:bodyPr>
          <a:lstStyle/>
          <a:p>
            <a:pPr algn="l"/>
            <a:r>
              <a:rPr lang="en-US" sz="1400" dirty="0"/>
              <a:t>A </a:t>
            </a:r>
            <a:r>
              <a:rPr lang="en-US" sz="1400" b="1" dirty="0"/>
              <a:t>Convolutional Neural Network (CNN) </a:t>
            </a:r>
            <a:r>
              <a:rPr lang="en-US" sz="1400" dirty="0"/>
              <a:t>is a deep learning model designed for image processing, using convolutional layers to detect patterns and features like edges, shapes, and textures.</a:t>
            </a:r>
            <a:endParaRPr lang="en-IN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2AC174-18B0-843A-A302-9171012221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564" y="984250"/>
            <a:ext cx="10820400" cy="40767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F960833-F5BF-2EF8-20A0-6A55301689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2749" y="245392"/>
            <a:ext cx="1194379" cy="479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970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26B60-2D73-5386-2A70-1AA321F67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15A93183-1CC0-FD20-463E-65E291E7E6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2935" y="5797652"/>
            <a:ext cx="9144000" cy="70474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sz="1600" b="1" dirty="0"/>
              <a:t>Long Short-Term Memory (LSTM) </a:t>
            </a:r>
            <a:r>
              <a:rPr lang="en-US" sz="1600" dirty="0"/>
              <a:t>is a type of Recurrent Neural Network (RNN) designed to handle long-term dependencies by using memory cells, making it effective for tasks like speech recognition and time-series prediction.</a:t>
            </a:r>
            <a:endParaRPr lang="en-IN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E2E6A0-3E72-7682-568C-4C414EBA7E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98" b="19193"/>
          <a:stretch/>
        </p:blipFill>
        <p:spPr>
          <a:xfrm>
            <a:off x="2071235" y="720435"/>
            <a:ext cx="8049531" cy="48121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22D2445-11ED-F82D-A3D0-C5132E8C07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2749" y="245392"/>
            <a:ext cx="1194379" cy="479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942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5516D-46F6-7530-0609-9FCBEC6B4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25FFD7B1-1167-B257-EF49-C13488E4C3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5275" y="5554374"/>
            <a:ext cx="10515600" cy="1132176"/>
          </a:xfrm>
        </p:spPr>
        <p:txBody>
          <a:bodyPr>
            <a:normAutofit/>
          </a:bodyPr>
          <a:lstStyle/>
          <a:p>
            <a:pPr algn="l"/>
            <a:r>
              <a:rPr lang="en-US" sz="1600" b="1" dirty="0"/>
              <a:t>Gated Recurrent Unit (GRU) </a:t>
            </a:r>
            <a:r>
              <a:rPr lang="en-US" sz="1600" dirty="0"/>
              <a:t>is a type of RNN that simplifies LSTM by using fewer gates, making it faster and more efficient for sequential tasks like speech recognition and text generation. It comprises three main components: </a:t>
            </a:r>
            <a:r>
              <a:rPr lang="en-US" sz="1600" b="1" dirty="0"/>
              <a:t>an update gate, a reset gate, and a candidate hidden state.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153B94-7422-6BBA-CB1E-BDAEA1EA498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60" b="26775"/>
          <a:stretch/>
        </p:blipFill>
        <p:spPr>
          <a:xfrm>
            <a:off x="0" y="573729"/>
            <a:ext cx="12192000" cy="381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17A637-40D3-725E-80B1-8FCE3A1DB4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2749" y="245392"/>
            <a:ext cx="1194379" cy="479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97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FD2A4-D4FC-D431-0592-6BA1C1DDF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CDA7A01-708E-FA83-1B72-FF605145E793}"/>
              </a:ext>
            </a:extLst>
          </p:cNvPr>
          <p:cNvSpPr/>
          <p:nvPr/>
        </p:nvSpPr>
        <p:spPr>
          <a:xfrm>
            <a:off x="0" y="249382"/>
            <a:ext cx="2207491" cy="51723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B2CD8DCD-72A2-B759-8BA1-FA37E7DF66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127" y="310594"/>
            <a:ext cx="1810327" cy="42831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Medium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67D6E7-F2A4-A51D-18A7-2E95A875D2E5}"/>
              </a:ext>
            </a:extLst>
          </p:cNvPr>
          <p:cNvSpPr txBox="1"/>
          <p:nvPr/>
        </p:nvSpPr>
        <p:spPr>
          <a:xfrm>
            <a:off x="775855" y="1104727"/>
            <a:ext cx="10871200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How </a:t>
            </a:r>
            <a:r>
              <a:rPr lang="en-US" dirty="0" err="1"/>
              <a:t>DeepSeek</a:t>
            </a:r>
            <a:r>
              <a:rPr lang="en-US" dirty="0"/>
              <a:t> Revolutionized AI by Slashing Costs: A Deep Dive into Their Smart Techniques     </a:t>
            </a:r>
          </a:p>
          <a:p>
            <a:pPr lvl="1"/>
            <a:r>
              <a:rPr lang="en-US" sz="1400" dirty="0"/>
              <a:t>- Explore how </a:t>
            </a:r>
            <a:r>
              <a:rPr lang="en-US" sz="1400" dirty="0" err="1"/>
              <a:t>DeepSeek</a:t>
            </a:r>
            <a:r>
              <a:rPr lang="en-US" sz="1400" dirty="0"/>
              <a:t> optimized GPU and CPU usage, introduced cost-efficient AI models, and set a new benchmark for generative AI development.</a:t>
            </a:r>
            <a:r>
              <a:rPr lang="en-US" dirty="0"/>
              <a:t>  </a:t>
            </a:r>
          </a:p>
          <a:p>
            <a:pPr lvl="1"/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Building a Future with Generative AI: Practical Steps to Achieve Your Career Goals Using AI     </a:t>
            </a:r>
          </a:p>
          <a:p>
            <a:pPr lvl="1"/>
            <a:r>
              <a:rPr lang="en-US" sz="1400" dirty="0"/>
              <a:t>- A guide on how AI can help individuals achieve specific career goals, from becoming a manager to a CEO, using prediction, planning, and monitoring systems.  </a:t>
            </a:r>
          </a:p>
          <a:p>
            <a:pPr lvl="1"/>
            <a:endParaRPr lang="en-US" sz="1400" dirty="0"/>
          </a:p>
          <a:p>
            <a:pPr marL="342900" indent="-342900">
              <a:buAutoNum type="arabicPeriod"/>
            </a:pPr>
            <a:r>
              <a:rPr lang="en-US" dirty="0"/>
              <a:t>From Data to Decisions: How Generative AI is Transforming Spend Analytics.</a:t>
            </a:r>
          </a:p>
          <a:p>
            <a:pPr lvl="1"/>
            <a:r>
              <a:rPr lang="en-US" dirty="0"/>
              <a:t> </a:t>
            </a:r>
            <a:r>
              <a:rPr lang="en-US" sz="1400" dirty="0"/>
              <a:t>- Highlight the role of GPT-4 and Azure OpenAI in procurement data analysis, discussing challenges and solutions for speed, accuracy, and scalability.  </a:t>
            </a:r>
          </a:p>
          <a:p>
            <a:pPr lvl="1"/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Designing a Retrieval-Augmented Generation (RAG) Chatbot: An Engineer's Journey with Azure and OpenAI     </a:t>
            </a:r>
          </a:p>
          <a:p>
            <a:pPr lvl="1"/>
            <a:r>
              <a:rPr lang="en-US" sz="1400" dirty="0"/>
              <a:t>- Share the process of building a PDF-focused RAG chatbot, explaining techniques, challenges, and key takeaways for similar projects.  </a:t>
            </a:r>
          </a:p>
          <a:p>
            <a:pPr lvl="1"/>
            <a:endParaRPr lang="en-US" sz="1400" dirty="0"/>
          </a:p>
          <a:p>
            <a:pPr marL="342900" indent="-342900">
              <a:buAutoNum type="arabicPeriod"/>
            </a:pPr>
            <a:r>
              <a:rPr lang="en-US" dirty="0"/>
              <a:t>Mastering the Art of Storytelling for IT Professionals: How to Present Projects Effectively    </a:t>
            </a:r>
          </a:p>
          <a:p>
            <a:pPr lvl="1"/>
            <a:r>
              <a:rPr lang="en-US" sz="1400" dirty="0"/>
              <a:t> - Offer insights and tips for improving storytelling skills, particularly for professionals in tech, to explain complex projects clearly and confidently.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36E698-571A-11EA-BFE0-4682D269BC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2749" y="245392"/>
            <a:ext cx="1194379" cy="479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762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FD2A4-D4FC-D431-0592-6BA1C1DDF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CDA7A01-708E-FA83-1B72-FF605145E793}"/>
              </a:ext>
            </a:extLst>
          </p:cNvPr>
          <p:cNvSpPr/>
          <p:nvPr/>
        </p:nvSpPr>
        <p:spPr>
          <a:xfrm>
            <a:off x="0" y="249382"/>
            <a:ext cx="2207491" cy="51723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B2CD8DCD-72A2-B759-8BA1-FA37E7DF66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127" y="310594"/>
            <a:ext cx="1810327" cy="42831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Medium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36E698-571A-11EA-BFE0-4682D269BC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2749" y="245392"/>
            <a:ext cx="1194379" cy="4795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4BE4F03-36A7-24F1-AD9D-57DE7A8E7FF2}"/>
              </a:ext>
            </a:extLst>
          </p:cNvPr>
          <p:cNvSpPr txBox="1"/>
          <p:nvPr/>
        </p:nvSpPr>
        <p:spPr>
          <a:xfrm>
            <a:off x="498762" y="1237672"/>
            <a:ext cx="11296072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Long Short-Term Memory (LSTM): The Solution to RNN's Forgetful Nature</a:t>
            </a:r>
          </a:p>
          <a:p>
            <a:endParaRPr lang="en-US" dirty="0"/>
          </a:p>
          <a:p>
            <a:r>
              <a:rPr lang="en-US" sz="1600" dirty="0"/>
              <a:t>Focus: Why LSTM was invented, how it works, and its real-world applications. The Gated Recurrent Unit (GRU): A Simplified LSTM for Faster Results</a:t>
            </a:r>
          </a:p>
          <a:p>
            <a:endParaRPr lang="en-US" sz="1600" dirty="0"/>
          </a:p>
          <a:p>
            <a:r>
              <a:rPr lang="en-US" sz="1600" dirty="0"/>
              <a:t>Focus: Discuss GRU and its importance in solving sequential tasks. What Are Convolutional Neural Networks (CNN)? A Visual Guide to Image Processing</a:t>
            </a:r>
          </a:p>
          <a:p>
            <a:endParaRPr lang="en-US" sz="1600" dirty="0"/>
          </a:p>
          <a:p>
            <a:r>
              <a:rPr lang="en-US" sz="1600" dirty="0"/>
              <a:t>Focus: Explain CNNs with an example like recognizing objects in photos.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F6DBA5-9984-ADC1-F2CC-540417C4A715}"/>
              </a:ext>
            </a:extLst>
          </p:cNvPr>
          <p:cNvSpPr txBox="1"/>
          <p:nvPr/>
        </p:nvSpPr>
        <p:spPr>
          <a:xfrm>
            <a:off x="498762" y="4027055"/>
            <a:ext cx="11194473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Real-Life Applications of Neural Networks: From Weather Predictions to Movie Recommendations</a:t>
            </a:r>
          </a:p>
          <a:p>
            <a:endParaRPr lang="en-US" dirty="0"/>
          </a:p>
          <a:p>
            <a:r>
              <a:rPr lang="en-US" sz="1600" dirty="0"/>
              <a:t>Focus: Show practical uses of neural networks for a broad audience. Activation Functions Demystified: Choosing the Right One for Your Neural Network</a:t>
            </a:r>
          </a:p>
          <a:p>
            <a:endParaRPr lang="en-US" sz="1600" dirty="0"/>
          </a:p>
          <a:p>
            <a:r>
              <a:rPr lang="en-US" sz="1600" dirty="0"/>
              <a:t>Focus: Comparison of activation functions (</a:t>
            </a:r>
            <a:r>
              <a:rPr lang="en-US" sz="1600" dirty="0" err="1"/>
              <a:t>ReLU</a:t>
            </a:r>
            <a:r>
              <a:rPr lang="en-US" sz="1600" dirty="0"/>
              <a:t>, Tanh, Sigmoid) and their use cases. Why Is Backpropagation Crucial in Neural Networks?</a:t>
            </a:r>
          </a:p>
          <a:p>
            <a:endParaRPr lang="en-US" sz="1600" dirty="0"/>
          </a:p>
          <a:p>
            <a:r>
              <a:rPr lang="en-US" sz="1600" dirty="0"/>
              <a:t>Focus: Simplify backpropagation and explain its importance with a real-life analogy.</a:t>
            </a:r>
          </a:p>
        </p:txBody>
      </p:sp>
    </p:spTree>
    <p:extLst>
      <p:ext uri="{BB962C8B-B14F-4D97-AF65-F5344CB8AC3E}">
        <p14:creationId xmlns:p14="http://schemas.microsoft.com/office/powerpoint/2010/main" val="1282620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560</Words>
  <Application>Microsoft Office PowerPoint</Application>
  <PresentationFormat>Widescreen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ANN , CNN, RNN,LSTM And GRU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 , CNN, RNN,LSTM And GRU </dc:title>
  <dc:creator>gowtham kumar</dc:creator>
  <cp:lastModifiedBy>Mukesh Pal</cp:lastModifiedBy>
  <cp:revision>4</cp:revision>
  <dcterms:created xsi:type="dcterms:W3CDTF">2025-02-16T09:35:15Z</dcterms:created>
  <dcterms:modified xsi:type="dcterms:W3CDTF">2025-02-16T10:24:42Z</dcterms:modified>
</cp:coreProperties>
</file>