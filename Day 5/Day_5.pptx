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63" r:id="rId5"/>
    <p:sldId id="264" r:id="rId6"/>
    <p:sldId id="265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8" d="100"/>
          <a:sy n="58" d="100"/>
        </p:scale>
        <p:origin x="9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792CC-F109-DDC9-4BF0-3C57B462D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5F129-E440-3CA4-9700-7E860E2E4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F40D3-D368-EE31-5193-14C0C2A0C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51B18-8805-2DB9-A9AD-E5BEB995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E0FCD-2DCD-A6BD-FAA1-68223CB9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981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45084-09B7-D1A8-442E-20505DCFB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DB8BD-43FF-3DAC-DE6C-BA9A7A83B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1C636-4460-A32D-E9DF-277EAA54C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7D812-2B76-D055-F629-AAE29C163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D79A3-5965-2C14-87E7-A3386D1CE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35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81090-2ACE-CC25-07F6-3A8631958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D0F80-B65F-438E-86C1-4092F8A08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2A5F7-0E3A-0B4B-0C40-3C205BF9A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969FA-3F6F-92A0-AB49-DCCB75F89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BCC4A-5D30-69FC-9F25-A8F82634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30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2FA13-8041-4EDC-D4A0-6029508AC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AAEDA-6625-FCFA-4CDF-BB1277A902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3EA4B-7A8D-A05A-D02D-5FA1172FB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A3C0E-F717-13BC-E1A0-9209BA830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65985-02DD-1EC9-CFD0-0F836ABC0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B22E5-CB58-BB59-B4C2-1682C5DF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537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DBC32-A21B-3BB6-539A-12713F0C8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4779E-BF65-E9B1-ED6E-1A06429DB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9723D-C1E9-C713-8154-254675E25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0D2CFE-5854-9BD1-03B0-FB44FEB58B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75E269-7E69-520A-C789-4167826905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A51506-2874-7DEB-8C6B-D12C5F01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06B686-CE6F-877C-5C7D-477961BE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3CE590-010A-18B0-F0A2-D426EAE63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994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F367-326C-56A5-E58D-C0101B49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C4AA6E-2048-8C46-2ED5-9561EF346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815B90-372C-8ED8-9B3F-E2F6B0891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C2501-7030-0BFE-C4E0-C49FEEE55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587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0B2F2E-03A4-0BD7-E70B-835A15138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4DD45F-C734-A599-1E01-F61C65ACB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193F9-1496-863C-5388-12AC780B2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079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172FA-4496-0857-E635-40E4C0996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10E85-6132-CF7A-04CB-E9657FB4F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BD978-0256-E5A1-1BC8-71D09C4C7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EE598-F95B-63D2-E8A8-611A7648F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57809-52BB-EFE4-CAD9-0AE905F3F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95C6E-149F-C688-5633-FC9CC2EA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74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314A9-9688-12D9-3FE0-E1F28B837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A554E-BF3B-2EB9-DAE1-5663A064E2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E306E-341F-1C93-F9B7-6725DFB83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DD9B9-1D18-5E27-227C-D7D55D39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5F72F-C286-6878-C0C2-1EFDB5FF4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82B7C-7954-808D-D561-EAF6CB124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18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4390-3A19-99CC-B51A-4AB40286D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EA27B6-FCCE-CD5A-B001-120437D61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6B69C-615C-9785-ECD1-AE641A5B4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17876-D51F-4223-348B-043234B35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ED31D-D46D-10E0-8CA7-6818A163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887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460605-289E-A9F1-4C4E-02D50DD19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388A2-4F0D-1008-2BD6-072B8F58A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DDB97-B1AA-A13F-1294-540C7FC57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7067-C231-4209-B50C-A5EDD60DE37E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B25D4-00B5-7A36-E007-04AB3ECEF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00BF0-55FA-C805-A2F7-669AAB80A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6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2CA6B9-7D2E-061E-AB15-BB0E6982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397D9-CE3D-C0D9-CF15-C1BF5828B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47F58-1F41-2D76-ADFF-CE9431E716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97067-C231-4209-B50C-A5EDD60DE37E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34392-D180-475D-AF3E-65BF06F68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0DF4F-A553-C65C-34DC-4BD26029C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37E65-9B98-4B46-A160-3C9684671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79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74000">
              <a:schemeClr val="accent1">
                <a:lumMod val="60000"/>
                <a:lumOff val="40000"/>
              </a:schemeClr>
            </a:gs>
            <a:gs pos="83000">
              <a:schemeClr val="accent1">
                <a:lumMod val="60000"/>
                <a:lumOff val="40000"/>
              </a:schemeClr>
            </a:gs>
            <a:gs pos="100000">
              <a:schemeClr val="accent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E8524-C8C3-9A72-C9D0-D22DA614B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" y="1857375"/>
            <a:ext cx="10629900" cy="1366837"/>
          </a:xfrm>
        </p:spPr>
        <p:txBody>
          <a:bodyPr/>
          <a:lstStyle/>
          <a:p>
            <a:pPr algn="l"/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Day 5</a:t>
            </a:r>
            <a:endParaRPr lang="en-IN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6369A-F8CB-872F-E85E-88FCAB1D7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09" y="245392"/>
            <a:ext cx="1874120" cy="75248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925411C-A172-9655-EFC2-082D81CA083E}"/>
              </a:ext>
            </a:extLst>
          </p:cNvPr>
          <p:cNvSpPr txBox="1">
            <a:spLocks/>
          </p:cNvSpPr>
          <p:nvPr/>
        </p:nvSpPr>
        <p:spPr>
          <a:xfrm>
            <a:off x="457200" y="2886075"/>
            <a:ext cx="10629900" cy="1366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Prompting and Rag and CAG </a:t>
            </a:r>
            <a:endParaRPr lang="en-IN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0749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07475-BCFD-642B-2C12-446E5682B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D8457398-1256-D839-ED46-CF5D16F45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3745" y="1003240"/>
            <a:ext cx="10203997" cy="461301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Prompting means </a:t>
            </a:r>
            <a:r>
              <a:rPr lang="en-US" b="1" dirty="0"/>
              <a:t>giving clear instructions to AI</a:t>
            </a:r>
            <a:r>
              <a:rPr lang="en-US" dirty="0"/>
              <a:t> so it can provide the best response. The way we write a prompt </a:t>
            </a:r>
            <a:r>
              <a:rPr lang="en-US" b="1" dirty="0"/>
              <a:t>affects the quality of the answer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1EC24A-8A2F-18D7-FEA4-56EF5A0F7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49" y="245392"/>
            <a:ext cx="1194379" cy="47956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748F74C-4CD1-9EE5-6B60-498D7BA28FE8}"/>
              </a:ext>
            </a:extLst>
          </p:cNvPr>
          <p:cNvSpPr/>
          <p:nvPr/>
        </p:nvSpPr>
        <p:spPr>
          <a:xfrm>
            <a:off x="0" y="276224"/>
            <a:ext cx="3705225" cy="561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EFFEE8-760E-C4D2-02D7-CF50784486D9}"/>
              </a:ext>
            </a:extLst>
          </p:cNvPr>
          <p:cNvSpPr/>
          <p:nvPr/>
        </p:nvSpPr>
        <p:spPr>
          <a:xfrm>
            <a:off x="297869" y="309860"/>
            <a:ext cx="306257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2800" dirty="0"/>
              <a:t>What is Prompting?</a:t>
            </a:r>
            <a:endParaRPr lang="en-US" sz="28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ED7FE5-25E4-E210-DDCD-39459E486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12950"/>
            <a:ext cx="12192000" cy="484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1926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6B4AB-91F9-44F5-0353-F10CAAF8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430FBC4-6F1D-F8B4-8843-66FB57669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133" y="1190409"/>
            <a:ext cx="9395361" cy="386999"/>
          </a:xfrm>
        </p:spPr>
        <p:txBody>
          <a:bodyPr>
            <a:noAutofit/>
          </a:bodyPr>
          <a:lstStyle/>
          <a:p>
            <a:pPr algn="l"/>
            <a:r>
              <a:rPr lang="en-US" sz="1800" b="1" dirty="0"/>
              <a:t>Zero-Shot Prompting</a:t>
            </a:r>
            <a:r>
              <a:rPr lang="en-US" sz="1800" dirty="0"/>
              <a:t> (No Example Given)</a:t>
            </a:r>
          </a:p>
          <a:p>
            <a:pPr algn="l"/>
            <a:br>
              <a:rPr lang="en-US" sz="1800" dirty="0"/>
            </a:br>
            <a:r>
              <a:rPr lang="en-IN" sz="1800" b="1" dirty="0"/>
              <a:t>Few-Shot Prompting</a:t>
            </a:r>
            <a:r>
              <a:rPr lang="en-IN" sz="1800" dirty="0"/>
              <a:t> (Giving Examples)</a:t>
            </a:r>
          </a:p>
          <a:p>
            <a:pPr algn="l"/>
            <a:endParaRPr lang="en-IN" sz="1800" dirty="0"/>
          </a:p>
          <a:p>
            <a:pPr algn="l"/>
            <a:r>
              <a:rPr lang="en-US" sz="1800" b="1" dirty="0"/>
              <a:t>Chain-of-Thought (</a:t>
            </a:r>
            <a:r>
              <a:rPr lang="en-US" sz="1800" b="1" dirty="0" err="1"/>
              <a:t>CoT</a:t>
            </a:r>
            <a:r>
              <a:rPr lang="en-US" sz="1800" b="1" dirty="0"/>
              <a:t>) Prompting</a:t>
            </a:r>
            <a:r>
              <a:rPr lang="en-US" sz="1800" dirty="0"/>
              <a:t> (Step-by-Step Thinking)</a:t>
            </a:r>
            <a:endParaRPr lang="en-IN" sz="1800" dirty="0"/>
          </a:p>
          <a:p>
            <a:pPr algn="l"/>
            <a:endParaRPr lang="en-IN" sz="1800" dirty="0"/>
          </a:p>
          <a:p>
            <a:pPr algn="l"/>
            <a:r>
              <a:rPr lang="en-US" sz="1800" b="1" dirty="0"/>
              <a:t>Role-Based Prompting</a:t>
            </a:r>
            <a:r>
              <a:rPr lang="en-US" sz="1800" dirty="0"/>
              <a:t> (Assigning a Role)</a:t>
            </a:r>
            <a:endParaRPr lang="en-IN" sz="1800" dirty="0"/>
          </a:p>
          <a:p>
            <a:pPr algn="l"/>
            <a:endParaRPr lang="en-IN" sz="1800" dirty="0"/>
          </a:p>
          <a:p>
            <a:pPr algn="l"/>
            <a:r>
              <a:rPr lang="en-US" sz="1800" b="1" dirty="0"/>
              <a:t>Instruction-Based Prompting</a:t>
            </a:r>
            <a:r>
              <a:rPr lang="en-US" sz="1800" dirty="0"/>
              <a:t> (Giving Clear Instructions)</a:t>
            </a:r>
            <a:endParaRPr lang="en-IN" sz="1800" dirty="0"/>
          </a:p>
          <a:p>
            <a:pPr algn="l"/>
            <a:endParaRPr lang="en-IN" sz="1800" dirty="0"/>
          </a:p>
          <a:p>
            <a:pPr algn="l"/>
            <a:r>
              <a:rPr lang="en-US" sz="1800" b="1" dirty="0"/>
              <a:t>Multimodal Prompting</a:t>
            </a:r>
            <a:r>
              <a:rPr lang="en-US" sz="1800" dirty="0"/>
              <a:t> (Using Text + Image/Audio)</a:t>
            </a:r>
          </a:p>
          <a:p>
            <a:pPr algn="l"/>
            <a:endParaRPr lang="en-US" sz="1800" dirty="0"/>
          </a:p>
          <a:p>
            <a:pPr algn="l"/>
            <a:r>
              <a:rPr lang="en-US" sz="1800" b="1" dirty="0"/>
              <a:t>Self-Consistency Prompting</a:t>
            </a:r>
            <a:r>
              <a:rPr lang="en-US" sz="1800" dirty="0"/>
              <a:t> (Generating Multiple Answers)</a:t>
            </a:r>
          </a:p>
          <a:p>
            <a:pPr algn="l"/>
            <a:endParaRPr lang="en-US" sz="1800" dirty="0"/>
          </a:p>
          <a:p>
            <a:pPr algn="l"/>
            <a:r>
              <a:rPr lang="en-US" sz="1800" b="1" dirty="0"/>
              <a:t>Refinement Prompting</a:t>
            </a:r>
            <a:r>
              <a:rPr lang="en-US" sz="1800" dirty="0"/>
              <a:t> (Improving a Previous Response)</a:t>
            </a:r>
            <a:br>
              <a:rPr lang="en-IN" sz="1800" dirty="0"/>
            </a:br>
            <a:endParaRPr lang="en-IN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89003A-03A8-197E-7F88-590F485FF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49" y="245392"/>
            <a:ext cx="1194379" cy="47956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094CAC-DC6D-3492-E3E9-F5AC6FA2031A}"/>
              </a:ext>
            </a:extLst>
          </p:cNvPr>
          <p:cNvSpPr/>
          <p:nvPr/>
        </p:nvSpPr>
        <p:spPr>
          <a:xfrm>
            <a:off x="0" y="245392"/>
            <a:ext cx="6096000" cy="5928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40A228-A976-F686-8E7C-908F04F98BDA}"/>
              </a:ext>
            </a:extLst>
          </p:cNvPr>
          <p:cNvSpPr/>
          <p:nvPr/>
        </p:nvSpPr>
        <p:spPr>
          <a:xfrm>
            <a:off x="-1290577" y="309860"/>
            <a:ext cx="73538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/>
              <a:t>Types of Prompting (Step-by-Step with Examples)</a:t>
            </a:r>
            <a:endParaRPr lang="en-US" sz="28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98013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8405F-BB88-DBB7-E8F0-7F89E1208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CE77A85A-51C2-CD13-94CC-913022A84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133" y="1190409"/>
            <a:ext cx="9395361" cy="386999"/>
          </a:xfrm>
        </p:spPr>
        <p:txBody>
          <a:bodyPr>
            <a:noAutofit/>
          </a:bodyPr>
          <a:lstStyle/>
          <a:p>
            <a:pPr algn="l"/>
            <a:r>
              <a:rPr lang="en-US" b="1" dirty="0"/>
              <a:t>3. Chain-of-Thought (</a:t>
            </a:r>
            <a:r>
              <a:rPr lang="en-US" b="1" dirty="0" err="1"/>
              <a:t>CoT</a:t>
            </a:r>
            <a:r>
              <a:rPr lang="en-US" b="1" dirty="0"/>
              <a:t>) Prompting (Step-by-Step Thinking)</a:t>
            </a:r>
          </a:p>
          <a:p>
            <a:pPr algn="l"/>
            <a:br>
              <a:rPr lang="en-US" dirty="0"/>
            </a:br>
            <a:r>
              <a:rPr lang="en-US" dirty="0"/>
              <a:t>📝 Prompt:</a:t>
            </a:r>
            <a:br>
              <a:rPr lang="en-US" dirty="0"/>
            </a:br>
            <a:r>
              <a:rPr lang="en-US" dirty="0"/>
              <a:t>"Lisa has 4 chocolates. She buys 3 more and gives 2 to her friend. How many does she have now? Explain step by step.“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🤖 AI Response:</a:t>
            </a:r>
            <a:br>
              <a:rPr lang="en-US" dirty="0"/>
            </a:br>
            <a:r>
              <a:rPr lang="en-US" dirty="0"/>
              <a:t>"Lisa starts with 4 chocolates.</a:t>
            </a:r>
            <a:br>
              <a:rPr lang="en-US" dirty="0"/>
            </a:br>
            <a:r>
              <a:rPr lang="en-US" dirty="0"/>
              <a:t>She buys 3 more → Now she has 4 + 3 = 7 chocolates.</a:t>
            </a:r>
            <a:br>
              <a:rPr lang="en-US" dirty="0"/>
            </a:br>
            <a:r>
              <a:rPr lang="en-US" dirty="0"/>
              <a:t>She gives 2 away → Now she has 7 - 2 = 5 chocolates.`</a:t>
            </a:r>
            <a:br>
              <a:rPr lang="en-US" dirty="0"/>
            </a:br>
            <a:r>
              <a:rPr lang="en-US" dirty="0"/>
              <a:t>So, the answer is </a:t>
            </a:r>
            <a:r>
              <a:rPr lang="en-US" b="1" dirty="0"/>
              <a:t>5 chocolates</a:t>
            </a:r>
            <a:r>
              <a:rPr lang="en-US" dirty="0"/>
              <a:t>."</a:t>
            </a:r>
          </a:p>
          <a:p>
            <a:pPr algn="l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C06E40-1D24-60B8-C505-40CA5C3A1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49" y="245392"/>
            <a:ext cx="1194379" cy="47956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C8C49A1-A890-8767-C012-EAB4AE8DBE15}"/>
              </a:ext>
            </a:extLst>
          </p:cNvPr>
          <p:cNvSpPr/>
          <p:nvPr/>
        </p:nvSpPr>
        <p:spPr>
          <a:xfrm>
            <a:off x="0" y="245392"/>
            <a:ext cx="6096000" cy="5928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CCF219-2910-F561-028C-F085577C90E4}"/>
              </a:ext>
            </a:extLst>
          </p:cNvPr>
          <p:cNvSpPr/>
          <p:nvPr/>
        </p:nvSpPr>
        <p:spPr>
          <a:xfrm>
            <a:off x="-1290577" y="309860"/>
            <a:ext cx="73538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/>
              <a:t>Types of Prompting (Step-by-Step with Examples)</a:t>
            </a:r>
            <a:endParaRPr lang="en-US" sz="28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189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C4C3E-7DFE-8D70-8644-588A48CEF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D986655-3AB1-131C-AADB-1898469F1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133" y="1190409"/>
            <a:ext cx="9395361" cy="386999"/>
          </a:xfrm>
        </p:spPr>
        <p:txBody>
          <a:bodyPr>
            <a:noAutofit/>
          </a:bodyPr>
          <a:lstStyle/>
          <a:p>
            <a:pPr algn="l"/>
            <a:r>
              <a:rPr lang="en-US" b="1" dirty="0"/>
              <a:t>Role-Based Prompting</a:t>
            </a:r>
            <a:r>
              <a:rPr lang="en-US" dirty="0"/>
              <a:t> (Assigning a Role)📝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Prompt: </a:t>
            </a:r>
            <a:r>
              <a:rPr lang="en-US" b="1" dirty="0"/>
              <a:t>"You are a history professor. Explain the French Revolution in simple words."</a:t>
            </a:r>
            <a:endParaRPr lang="en-US" dirty="0"/>
          </a:p>
          <a:p>
            <a:pPr algn="l"/>
            <a:r>
              <a:rPr lang="en-US" dirty="0"/>
              <a:t>🤖 AI Response:</a:t>
            </a:r>
            <a:br>
              <a:rPr lang="en-US" dirty="0"/>
            </a:br>
            <a:r>
              <a:rPr lang="en-US" dirty="0"/>
              <a:t>"The French Revolution (1789-1799) was when people in France fought for freedom from their king. They wanted equality and democracy. The revolution changed France forever."</a:t>
            </a:r>
          </a:p>
          <a:p>
            <a:pPr algn="l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E80555-2B96-4577-16D1-99C4BA673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49" y="245392"/>
            <a:ext cx="1194379" cy="47956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26A188F-B432-FE62-C8D3-2263F1230DF7}"/>
              </a:ext>
            </a:extLst>
          </p:cNvPr>
          <p:cNvSpPr/>
          <p:nvPr/>
        </p:nvSpPr>
        <p:spPr>
          <a:xfrm>
            <a:off x="0" y="245392"/>
            <a:ext cx="6096000" cy="5928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BEFDE5-D111-D17F-44F8-1B8E7AB8EA5A}"/>
              </a:ext>
            </a:extLst>
          </p:cNvPr>
          <p:cNvSpPr/>
          <p:nvPr/>
        </p:nvSpPr>
        <p:spPr>
          <a:xfrm>
            <a:off x="789383" y="309860"/>
            <a:ext cx="319388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/>
              <a:t>Types of Prompting </a:t>
            </a:r>
            <a:endParaRPr lang="en-US" sz="28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6479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2E659-60AC-CFF8-2BFE-DC28993F7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B027633-99D9-26F8-FEE2-6CAFA61AC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133" y="1190409"/>
            <a:ext cx="9395361" cy="386999"/>
          </a:xfrm>
        </p:spPr>
        <p:txBody>
          <a:bodyPr>
            <a:noAutofit/>
          </a:bodyPr>
          <a:lstStyle/>
          <a:p>
            <a:pPr algn="l"/>
            <a:r>
              <a:rPr lang="en-US" b="1" dirty="0"/>
              <a:t>. Instruction-Based Prompting</a:t>
            </a:r>
            <a:r>
              <a:rPr lang="en-US" dirty="0"/>
              <a:t> (Giving Clear Instructions)</a:t>
            </a:r>
          </a:p>
          <a:p>
            <a:pPr algn="l"/>
            <a:br>
              <a:rPr lang="en-US" dirty="0"/>
            </a:br>
            <a:r>
              <a:rPr lang="en-US" dirty="0"/>
              <a:t>📝 Prompt:</a:t>
            </a:r>
            <a:br>
              <a:rPr lang="en-US" dirty="0"/>
            </a:br>
            <a:r>
              <a:rPr lang="en-US" dirty="0"/>
              <a:t>"Summarize this paragraph in one sentence:</a:t>
            </a:r>
            <a:br>
              <a:rPr lang="en-US" dirty="0"/>
            </a:br>
            <a:r>
              <a:rPr lang="en-US" dirty="0"/>
              <a:t>'The sun is the closest star to Earth. It provides light and heat, which are essential for life. Without the sun, the planet would be too cold for living beings.'"</a:t>
            </a:r>
          </a:p>
          <a:p>
            <a:pPr algn="l"/>
            <a:r>
              <a:rPr lang="en-US" dirty="0"/>
              <a:t>🤖 AI Response:</a:t>
            </a:r>
            <a:br>
              <a:rPr lang="en-US" dirty="0"/>
            </a:br>
            <a:r>
              <a:rPr lang="en-US" b="1" dirty="0"/>
              <a:t>"The sun provides light and heat, making life possible on </a:t>
            </a:r>
            <a:r>
              <a:rPr lang="en-US" dirty="0"/>
              <a:t>Earth."</a:t>
            </a:r>
          </a:p>
          <a:p>
            <a:pPr algn="l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0EF02B-8B27-504F-9E28-DA83F2384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49" y="245392"/>
            <a:ext cx="1194379" cy="47956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FDFAF51-9AB7-DDC8-5325-D2F19B5781E8}"/>
              </a:ext>
            </a:extLst>
          </p:cNvPr>
          <p:cNvSpPr/>
          <p:nvPr/>
        </p:nvSpPr>
        <p:spPr>
          <a:xfrm>
            <a:off x="0" y="245392"/>
            <a:ext cx="6096000" cy="5928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9016B7-309F-1F0D-2694-1C2FCD2ED28D}"/>
              </a:ext>
            </a:extLst>
          </p:cNvPr>
          <p:cNvSpPr/>
          <p:nvPr/>
        </p:nvSpPr>
        <p:spPr>
          <a:xfrm>
            <a:off x="789383" y="309860"/>
            <a:ext cx="319388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/>
              <a:t>Types of Prompting </a:t>
            </a:r>
            <a:endParaRPr lang="en-US" sz="28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2700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5F2E66-AC35-D42C-92B4-1081B8D4E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186" y="1079653"/>
            <a:ext cx="11964318" cy="5662670"/>
          </a:xfrm>
        </p:spPr>
        <p:txBody>
          <a:bodyPr>
            <a:noAutofit/>
          </a:bodyPr>
          <a:lstStyle/>
          <a:p>
            <a:pPr algn="l"/>
            <a:r>
              <a:rPr lang="en-US" sz="1800" b="1" dirty="0"/>
              <a:t>1. The Power of Vector Databases: Why They’re Essential for AI and Search</a:t>
            </a:r>
          </a:p>
          <a:p>
            <a:pPr algn="l"/>
            <a:r>
              <a:rPr lang="en-US" sz="1800" dirty="0"/>
              <a:t>👉 Explore what vector databases are, why they matter in AI, and how they improve search and recommendation systems</a:t>
            </a:r>
          </a:p>
          <a:p>
            <a:pPr algn="l"/>
            <a:br>
              <a:rPr lang="en-IN" sz="1800" dirty="0"/>
            </a:br>
            <a:br>
              <a:rPr lang="en-IN" sz="1800" dirty="0"/>
            </a:br>
            <a:r>
              <a:rPr lang="en-US" sz="1800" b="1" dirty="0"/>
              <a:t>2. Breaking Text into Chunks: How to Store and Retrieve Information in a Vector Database</a:t>
            </a:r>
          </a:p>
          <a:p>
            <a:pPr algn="l"/>
            <a:r>
              <a:rPr lang="en-US" sz="1800" dirty="0"/>
              <a:t>👉 A practical guide on chunking text, converting it into embeddings, and storing it in a vector database for efficient retrieval.</a:t>
            </a:r>
          </a:p>
          <a:p>
            <a:pPr algn="l"/>
            <a:br>
              <a:rPr lang="en-IN" sz="1800" dirty="0"/>
            </a:br>
            <a:r>
              <a:rPr lang="en-US" sz="1800" b="1" dirty="0"/>
              <a:t>3. FAISS vs. Pinecone vs. </a:t>
            </a:r>
            <a:r>
              <a:rPr lang="en-US" sz="1800" b="1" dirty="0" err="1"/>
              <a:t>ChromaDB</a:t>
            </a:r>
            <a:r>
              <a:rPr lang="en-US" sz="1800" b="1" dirty="0"/>
              <a:t>: Comparing the Top Vector Databases</a:t>
            </a:r>
          </a:p>
          <a:p>
            <a:pPr algn="l"/>
            <a:r>
              <a:rPr lang="en-US" sz="1800" dirty="0"/>
              <a:t>👉 A deep dive into </a:t>
            </a:r>
            <a:r>
              <a:rPr lang="en-US" sz="1800" b="1" dirty="0"/>
              <a:t>different vector databases</a:t>
            </a:r>
            <a:r>
              <a:rPr lang="en-US" sz="1800" dirty="0"/>
              <a:t>, their strengths, weaknesses, and which one to use for AI and search applications.</a:t>
            </a:r>
          </a:p>
          <a:p>
            <a:pPr algn="l"/>
            <a:r>
              <a:rPr lang="en-US" sz="1800" b="1" dirty="0"/>
              <a:t>4. From Words to Numbers: 5 Techniques to Convert Text into Vectors</a:t>
            </a:r>
          </a:p>
          <a:p>
            <a:pPr algn="l"/>
            <a:r>
              <a:rPr lang="en-US" sz="1800" dirty="0"/>
              <a:t>👉 Explain </a:t>
            </a:r>
            <a:r>
              <a:rPr lang="en-US" sz="1800" b="1" dirty="0"/>
              <a:t>different embedding techniques</a:t>
            </a:r>
            <a:r>
              <a:rPr lang="en-US" sz="1800" dirty="0"/>
              <a:t> (Word2Vec, BERT, Sentence Transformers, OpenAI Embeddings) and when to use them.</a:t>
            </a:r>
          </a:p>
          <a:p>
            <a:pPr algn="l"/>
            <a:r>
              <a:rPr lang="en-US" sz="1800" b="1" dirty="0"/>
              <a:t>5. Mastering AI Prompting: The 7 Most Powerful Prompting Techniques Explained</a:t>
            </a:r>
          </a:p>
          <a:p>
            <a:pPr algn="l"/>
            <a:r>
              <a:rPr lang="en-US" sz="1800" dirty="0"/>
              <a:t>👉 Discuss different prompting methods (</a:t>
            </a:r>
            <a:r>
              <a:rPr lang="en-US" sz="1800" b="1" dirty="0"/>
              <a:t>zero-shot, few-shot, </a:t>
            </a:r>
            <a:r>
              <a:rPr lang="en-US" sz="1800" b="1" dirty="0" err="1"/>
              <a:t>CoT</a:t>
            </a:r>
            <a:r>
              <a:rPr lang="en-US" sz="1800" b="1" dirty="0"/>
              <a:t>, role-based, self-consistency</a:t>
            </a:r>
            <a:r>
              <a:rPr lang="en-US" sz="1800" dirty="0"/>
              <a:t>) with real-world examples.</a:t>
            </a:r>
          </a:p>
          <a:p>
            <a:pPr algn="l"/>
            <a:endParaRPr lang="en-US" sz="1800" dirty="0"/>
          </a:p>
          <a:p>
            <a:pPr algn="l"/>
            <a:endParaRPr lang="en-IN" sz="1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18D627-5ABF-34C3-4BFF-11E5200DBB5E}"/>
              </a:ext>
            </a:extLst>
          </p:cNvPr>
          <p:cNvSpPr/>
          <p:nvPr/>
        </p:nvSpPr>
        <p:spPr>
          <a:xfrm>
            <a:off x="0" y="245392"/>
            <a:ext cx="6096000" cy="5928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62434B-4873-717C-9604-5683E00EF2A1}"/>
              </a:ext>
            </a:extLst>
          </p:cNvPr>
          <p:cNvSpPr/>
          <p:nvPr/>
        </p:nvSpPr>
        <p:spPr>
          <a:xfrm>
            <a:off x="1319372" y="309860"/>
            <a:ext cx="213391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Medium Blog</a:t>
            </a:r>
          </a:p>
        </p:txBody>
      </p:sp>
    </p:spTree>
    <p:extLst>
      <p:ext uri="{BB962C8B-B14F-4D97-AF65-F5344CB8AC3E}">
        <p14:creationId xmlns:p14="http://schemas.microsoft.com/office/powerpoint/2010/main" val="1022157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95E1C-3E38-F006-8BC7-408DA0129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52DD44-31EC-4DF0-4E0C-B28A3B6E2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15247"/>
            <a:ext cx="12063470" cy="6202497"/>
          </a:xfrm>
        </p:spPr>
        <p:txBody>
          <a:bodyPr>
            <a:noAutofit/>
          </a:bodyPr>
          <a:lstStyle/>
          <a:p>
            <a:pPr algn="l"/>
            <a:endParaRPr lang="en-US" sz="1800" dirty="0"/>
          </a:p>
          <a:p>
            <a:pPr algn="l"/>
            <a:endParaRPr lang="en-US" sz="1800" dirty="0"/>
          </a:p>
          <a:p>
            <a:pPr algn="l"/>
            <a:r>
              <a:rPr lang="en-US" sz="1800" b="1" dirty="0"/>
              <a:t>6. Retrieval-Augmented Generation (RAG): The Future of AI-Powered Search and Chatbots</a:t>
            </a:r>
          </a:p>
          <a:p>
            <a:pPr algn="l"/>
            <a:r>
              <a:rPr lang="en-US" sz="1800" dirty="0"/>
              <a:t>👉 Explain </a:t>
            </a:r>
            <a:r>
              <a:rPr lang="en-US" sz="1800" b="1" dirty="0"/>
              <a:t>what RAG is</a:t>
            </a:r>
            <a:r>
              <a:rPr lang="en-US" sz="1800" dirty="0"/>
              <a:t>, how it works, and why it’s a game-changer for AI assistants and knowledge-based applications.</a:t>
            </a:r>
          </a:p>
          <a:p>
            <a:pPr algn="l"/>
            <a:r>
              <a:rPr lang="en-US" sz="1800" b="1" dirty="0"/>
              <a:t>7. Context-Augmented Generation (CAG) vs. RAG: Which One is Better for AI Applications?</a:t>
            </a:r>
          </a:p>
          <a:p>
            <a:pPr algn="l"/>
            <a:r>
              <a:rPr lang="en-US" sz="1800" dirty="0"/>
              <a:t>👉 Compare </a:t>
            </a:r>
            <a:r>
              <a:rPr lang="en-US" sz="1800" b="1" dirty="0"/>
              <a:t>CAG and RAG</a:t>
            </a:r>
            <a:r>
              <a:rPr lang="en-US" sz="1800" dirty="0"/>
              <a:t>, their use cases, pros &amp; cons, and which approach is better for large-scale AI retrieval tasks.</a:t>
            </a:r>
          </a:p>
          <a:p>
            <a:pPr algn="l"/>
            <a:r>
              <a:rPr lang="en-US" sz="1800" b="1" dirty="0"/>
              <a:t>8. Transformers Demystified: How They Power Modern AI Models like GPT and BERT</a:t>
            </a:r>
          </a:p>
          <a:p>
            <a:pPr algn="l"/>
            <a:r>
              <a:rPr lang="en-US" sz="1800" dirty="0"/>
              <a:t>👉 A simple, step-by-step explanation of </a:t>
            </a:r>
            <a:r>
              <a:rPr lang="en-US" sz="1800" b="1" dirty="0"/>
              <a:t>how transformers work</a:t>
            </a:r>
            <a:r>
              <a:rPr lang="en-US" sz="1800" dirty="0"/>
              <a:t>, their role in deep learning, and why they outperform older models.</a:t>
            </a:r>
          </a:p>
          <a:p>
            <a:pPr algn="l"/>
            <a:r>
              <a:rPr lang="en-US" sz="1800" b="1" dirty="0"/>
              <a:t>9. How to Train Video-Based AI Models: A Step-by-Step Guide</a:t>
            </a:r>
          </a:p>
          <a:p>
            <a:pPr algn="l"/>
            <a:r>
              <a:rPr lang="en-US" sz="1800" dirty="0"/>
              <a:t>👉 Cover </a:t>
            </a:r>
            <a:r>
              <a:rPr lang="en-US" sz="1800" b="1" dirty="0"/>
              <a:t>video classification, action recognition, and training models like </a:t>
            </a:r>
            <a:r>
              <a:rPr lang="en-US" sz="1800" b="1" dirty="0" err="1"/>
              <a:t>SlowFast</a:t>
            </a:r>
            <a:r>
              <a:rPr lang="en-US" sz="1800" b="1" dirty="0"/>
              <a:t>, </a:t>
            </a:r>
            <a:r>
              <a:rPr lang="en-US" sz="1800" b="1" dirty="0" err="1"/>
              <a:t>TimeSformer</a:t>
            </a:r>
            <a:r>
              <a:rPr lang="en-US" sz="1800" b="1" dirty="0"/>
              <a:t>, and </a:t>
            </a:r>
            <a:r>
              <a:rPr lang="en-US" sz="1800" b="1" dirty="0" err="1"/>
              <a:t>ViViT</a:t>
            </a:r>
            <a:r>
              <a:rPr lang="en-US" sz="1800" dirty="0"/>
              <a:t> with real datasets.</a:t>
            </a:r>
          </a:p>
          <a:p>
            <a:pPr algn="l"/>
            <a:r>
              <a:rPr lang="en-US" sz="1800" b="1" dirty="0"/>
              <a:t>10. Fine-Tuning Image Models: How to Improve Computer Vision Accuracy</a:t>
            </a:r>
          </a:p>
          <a:p>
            <a:pPr algn="l"/>
            <a:r>
              <a:rPr lang="en-US" sz="1800" dirty="0"/>
              <a:t>👉 Explain </a:t>
            </a:r>
            <a:r>
              <a:rPr lang="en-US" sz="1800" b="1" dirty="0"/>
              <a:t>how to fine-tune pre-trained image models</a:t>
            </a:r>
            <a:r>
              <a:rPr lang="en-US" sz="1800" dirty="0"/>
              <a:t> (like </a:t>
            </a:r>
            <a:r>
              <a:rPr lang="en-US" sz="1800" dirty="0" err="1"/>
              <a:t>ResNet</a:t>
            </a:r>
            <a:r>
              <a:rPr lang="en-US" sz="1800" dirty="0"/>
              <a:t>, </a:t>
            </a:r>
            <a:r>
              <a:rPr lang="en-US" sz="1800" dirty="0" err="1"/>
              <a:t>ViT</a:t>
            </a:r>
            <a:r>
              <a:rPr lang="en-US" sz="1800" dirty="0"/>
              <a:t>, </a:t>
            </a:r>
            <a:r>
              <a:rPr lang="en-US" sz="1800" dirty="0" err="1"/>
              <a:t>EfficientNet</a:t>
            </a:r>
            <a:r>
              <a:rPr lang="en-US" sz="1800" dirty="0"/>
              <a:t>) for better accuracy in classification and object detection tasks.</a:t>
            </a:r>
          </a:p>
          <a:p>
            <a:pPr algn="l"/>
            <a:endParaRPr lang="en-US" sz="1800" dirty="0"/>
          </a:p>
          <a:p>
            <a:pPr algn="l"/>
            <a:endParaRPr lang="en-US" sz="1800" dirty="0"/>
          </a:p>
          <a:p>
            <a:pPr algn="l"/>
            <a:endParaRPr lang="en-IN"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DE6E70-3D10-F6AF-C94D-B9A8D50E5B06}"/>
              </a:ext>
            </a:extLst>
          </p:cNvPr>
          <p:cNvSpPr/>
          <p:nvPr/>
        </p:nvSpPr>
        <p:spPr>
          <a:xfrm>
            <a:off x="0" y="245392"/>
            <a:ext cx="6096000" cy="5928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F680FC-8AAB-C198-F947-EA1B6799C8F0}"/>
              </a:ext>
            </a:extLst>
          </p:cNvPr>
          <p:cNvSpPr/>
          <p:nvPr/>
        </p:nvSpPr>
        <p:spPr>
          <a:xfrm>
            <a:off x="1319372" y="309860"/>
            <a:ext cx="213391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Medium Blog</a:t>
            </a:r>
          </a:p>
        </p:txBody>
      </p:sp>
    </p:spTree>
    <p:extLst>
      <p:ext uri="{BB962C8B-B14F-4D97-AF65-F5344CB8AC3E}">
        <p14:creationId xmlns:p14="http://schemas.microsoft.com/office/powerpoint/2010/main" val="3901829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1567</TotalTime>
  <Words>743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Day 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 , CNN, RNN,LSTM And GRU</dc:title>
  <dc:creator>gowtham kumar</dc:creator>
  <cp:lastModifiedBy>gowtham kumar</cp:lastModifiedBy>
  <cp:revision>8</cp:revision>
  <dcterms:created xsi:type="dcterms:W3CDTF">2025-02-16T09:35:15Z</dcterms:created>
  <dcterms:modified xsi:type="dcterms:W3CDTF">2025-02-23T10:35:29Z</dcterms:modified>
</cp:coreProperties>
</file>