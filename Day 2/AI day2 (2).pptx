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9" r:id="rId2"/>
    <p:sldId id="257" r:id="rId3"/>
    <p:sldId id="258" r:id="rId4"/>
    <p:sldId id="264" r:id="rId5"/>
    <p:sldId id="260" r:id="rId6"/>
    <p:sldId id="265" r:id="rId7"/>
    <p:sldId id="267" r:id="rId8"/>
    <p:sldId id="268" r:id="rId9"/>
    <p:sldId id="266" r:id="rId10"/>
    <p:sldId id="261"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4" d="100"/>
          <a:sy n="104" d="100"/>
        </p:scale>
        <p:origin x="87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91D5EF-24D4-4A19-93F4-C0571880CBEE}" type="datetimeFigureOut">
              <a:rPr lang="en-US" smtClean="0"/>
              <a:t>15-Feb-25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870A1D-2406-4237-874E-1C2B8E95B51B}" type="slidenum">
              <a:rPr lang="en-US" smtClean="0"/>
              <a:t>‹#›</a:t>
            </a:fld>
            <a:endParaRPr lang="en-US"/>
          </a:p>
        </p:txBody>
      </p:sp>
    </p:spTree>
    <p:extLst>
      <p:ext uri="{BB962C8B-B14F-4D97-AF65-F5344CB8AC3E}">
        <p14:creationId xmlns:p14="http://schemas.microsoft.com/office/powerpoint/2010/main" val="3056934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D20DB-70D1-AB9B-1780-9735ACC721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709978D-BBB6-D2FD-F59A-7B4C9FA6DF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A067C34-CAA6-6E97-1F10-D985539092BD}"/>
              </a:ext>
            </a:extLst>
          </p:cNvPr>
          <p:cNvSpPr>
            <a:spLocks noGrp="1"/>
          </p:cNvSpPr>
          <p:nvPr>
            <p:ph type="dt" sz="half" idx="10"/>
          </p:nvPr>
        </p:nvSpPr>
        <p:spPr/>
        <p:txBody>
          <a:bodyPr/>
          <a:lstStyle/>
          <a:p>
            <a:fld id="{F949851D-C225-4D95-A5FB-46C74A625EC2}" type="datetimeFigureOut">
              <a:rPr lang="en-IN" smtClean="0"/>
              <a:t>15-02-2025</a:t>
            </a:fld>
            <a:endParaRPr lang="en-IN"/>
          </a:p>
        </p:txBody>
      </p:sp>
      <p:sp>
        <p:nvSpPr>
          <p:cNvPr id="5" name="Footer Placeholder 4">
            <a:extLst>
              <a:ext uri="{FF2B5EF4-FFF2-40B4-BE49-F238E27FC236}">
                <a16:creationId xmlns:a16="http://schemas.microsoft.com/office/drawing/2014/main" id="{302659E9-ADD1-17ED-FD4C-1131500B60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7A365B-9190-51B2-8B0F-B789F811FA23}"/>
              </a:ext>
            </a:extLst>
          </p:cNvPr>
          <p:cNvSpPr>
            <a:spLocks noGrp="1"/>
          </p:cNvSpPr>
          <p:nvPr>
            <p:ph type="sldNum" sz="quarter" idx="12"/>
          </p:nvPr>
        </p:nvSpPr>
        <p:spPr/>
        <p:txBody>
          <a:bodyPr/>
          <a:lstStyle/>
          <a:p>
            <a:fld id="{A73985ED-2965-42AD-899E-AFAA8F654DE5}" type="slidenum">
              <a:rPr lang="en-IN" smtClean="0"/>
              <a:t>‹#›</a:t>
            </a:fld>
            <a:endParaRPr lang="en-IN"/>
          </a:p>
        </p:txBody>
      </p:sp>
    </p:spTree>
    <p:extLst>
      <p:ext uri="{BB962C8B-B14F-4D97-AF65-F5344CB8AC3E}">
        <p14:creationId xmlns:p14="http://schemas.microsoft.com/office/powerpoint/2010/main" val="87890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F87E-8268-C2F9-23C0-09B0DF33C3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BDCE9E-B7C8-BB19-29DE-9BA5E53B6C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4FEB51-0EE5-F123-BA12-27AA79CC88E7}"/>
              </a:ext>
            </a:extLst>
          </p:cNvPr>
          <p:cNvSpPr>
            <a:spLocks noGrp="1"/>
          </p:cNvSpPr>
          <p:nvPr>
            <p:ph type="dt" sz="half" idx="10"/>
          </p:nvPr>
        </p:nvSpPr>
        <p:spPr/>
        <p:txBody>
          <a:bodyPr/>
          <a:lstStyle/>
          <a:p>
            <a:fld id="{F949851D-C225-4D95-A5FB-46C74A625EC2}" type="datetimeFigureOut">
              <a:rPr lang="en-IN" smtClean="0"/>
              <a:t>15-02-2025</a:t>
            </a:fld>
            <a:endParaRPr lang="en-IN"/>
          </a:p>
        </p:txBody>
      </p:sp>
      <p:sp>
        <p:nvSpPr>
          <p:cNvPr id="5" name="Footer Placeholder 4">
            <a:extLst>
              <a:ext uri="{FF2B5EF4-FFF2-40B4-BE49-F238E27FC236}">
                <a16:creationId xmlns:a16="http://schemas.microsoft.com/office/drawing/2014/main" id="{4D6CA823-2268-7334-7AF9-85E72C5DD6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2C113F-ADB9-D46C-F78D-243CEFA1CB4C}"/>
              </a:ext>
            </a:extLst>
          </p:cNvPr>
          <p:cNvSpPr>
            <a:spLocks noGrp="1"/>
          </p:cNvSpPr>
          <p:nvPr>
            <p:ph type="sldNum" sz="quarter" idx="12"/>
          </p:nvPr>
        </p:nvSpPr>
        <p:spPr/>
        <p:txBody>
          <a:bodyPr/>
          <a:lstStyle/>
          <a:p>
            <a:fld id="{A73985ED-2965-42AD-899E-AFAA8F654DE5}" type="slidenum">
              <a:rPr lang="en-IN" smtClean="0"/>
              <a:t>‹#›</a:t>
            </a:fld>
            <a:endParaRPr lang="en-IN"/>
          </a:p>
        </p:txBody>
      </p:sp>
    </p:spTree>
    <p:extLst>
      <p:ext uri="{BB962C8B-B14F-4D97-AF65-F5344CB8AC3E}">
        <p14:creationId xmlns:p14="http://schemas.microsoft.com/office/powerpoint/2010/main" val="2758804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A6463-C296-1B61-03E9-9B7ABE216C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964B0F4-A8D3-41B0-3151-9E75749392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8AAD01-BB81-3720-D8B7-F05993C09FFF}"/>
              </a:ext>
            </a:extLst>
          </p:cNvPr>
          <p:cNvSpPr>
            <a:spLocks noGrp="1"/>
          </p:cNvSpPr>
          <p:nvPr>
            <p:ph type="dt" sz="half" idx="10"/>
          </p:nvPr>
        </p:nvSpPr>
        <p:spPr/>
        <p:txBody>
          <a:bodyPr/>
          <a:lstStyle/>
          <a:p>
            <a:fld id="{F949851D-C225-4D95-A5FB-46C74A625EC2}" type="datetimeFigureOut">
              <a:rPr lang="en-IN" smtClean="0"/>
              <a:t>15-02-2025</a:t>
            </a:fld>
            <a:endParaRPr lang="en-IN"/>
          </a:p>
        </p:txBody>
      </p:sp>
      <p:sp>
        <p:nvSpPr>
          <p:cNvPr id="5" name="Footer Placeholder 4">
            <a:extLst>
              <a:ext uri="{FF2B5EF4-FFF2-40B4-BE49-F238E27FC236}">
                <a16:creationId xmlns:a16="http://schemas.microsoft.com/office/drawing/2014/main" id="{C60EB1D6-8037-8F24-AD24-4910A418AA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62CAE2-A433-F3F8-F3BB-C90C1B4AB938}"/>
              </a:ext>
            </a:extLst>
          </p:cNvPr>
          <p:cNvSpPr>
            <a:spLocks noGrp="1"/>
          </p:cNvSpPr>
          <p:nvPr>
            <p:ph type="sldNum" sz="quarter" idx="12"/>
          </p:nvPr>
        </p:nvSpPr>
        <p:spPr/>
        <p:txBody>
          <a:bodyPr/>
          <a:lstStyle/>
          <a:p>
            <a:fld id="{A73985ED-2965-42AD-899E-AFAA8F654DE5}" type="slidenum">
              <a:rPr lang="en-IN" smtClean="0"/>
              <a:t>‹#›</a:t>
            </a:fld>
            <a:endParaRPr lang="en-IN"/>
          </a:p>
        </p:txBody>
      </p:sp>
    </p:spTree>
    <p:extLst>
      <p:ext uri="{BB962C8B-B14F-4D97-AF65-F5344CB8AC3E}">
        <p14:creationId xmlns:p14="http://schemas.microsoft.com/office/powerpoint/2010/main" val="2801015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0960B-F92F-C98C-B8F2-9F26244A43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159011-BD1E-FE05-E0B2-AAF187FAEA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ECB8CFC-C42E-FC0C-4EE9-E19B7FCC0F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C79BEAA-B381-5DE8-0DBA-9875D29AF081}"/>
              </a:ext>
            </a:extLst>
          </p:cNvPr>
          <p:cNvSpPr>
            <a:spLocks noGrp="1"/>
          </p:cNvSpPr>
          <p:nvPr>
            <p:ph type="dt" sz="half" idx="10"/>
          </p:nvPr>
        </p:nvSpPr>
        <p:spPr/>
        <p:txBody>
          <a:bodyPr/>
          <a:lstStyle/>
          <a:p>
            <a:fld id="{F949851D-C225-4D95-A5FB-46C74A625EC2}" type="datetimeFigureOut">
              <a:rPr lang="en-IN" smtClean="0"/>
              <a:t>15-02-2025</a:t>
            </a:fld>
            <a:endParaRPr lang="en-IN"/>
          </a:p>
        </p:txBody>
      </p:sp>
      <p:sp>
        <p:nvSpPr>
          <p:cNvPr id="6" name="Footer Placeholder 5">
            <a:extLst>
              <a:ext uri="{FF2B5EF4-FFF2-40B4-BE49-F238E27FC236}">
                <a16:creationId xmlns:a16="http://schemas.microsoft.com/office/drawing/2014/main" id="{E5B143E4-D3FC-0618-7F0C-D05416EF2B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C005B1-6F55-F9E9-D70F-43DDBBC23603}"/>
              </a:ext>
            </a:extLst>
          </p:cNvPr>
          <p:cNvSpPr>
            <a:spLocks noGrp="1"/>
          </p:cNvSpPr>
          <p:nvPr>
            <p:ph type="sldNum" sz="quarter" idx="12"/>
          </p:nvPr>
        </p:nvSpPr>
        <p:spPr/>
        <p:txBody>
          <a:bodyPr/>
          <a:lstStyle/>
          <a:p>
            <a:fld id="{A73985ED-2965-42AD-899E-AFAA8F654DE5}" type="slidenum">
              <a:rPr lang="en-IN" smtClean="0"/>
              <a:t>‹#›</a:t>
            </a:fld>
            <a:endParaRPr lang="en-IN"/>
          </a:p>
        </p:txBody>
      </p:sp>
    </p:spTree>
    <p:extLst>
      <p:ext uri="{BB962C8B-B14F-4D97-AF65-F5344CB8AC3E}">
        <p14:creationId xmlns:p14="http://schemas.microsoft.com/office/powerpoint/2010/main" val="2077205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6395F-E922-CEF7-81FD-2D550CCD6EE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A1746C-D9D2-F784-271E-EC5A35269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620D68-065F-C702-4EF1-767486228F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944E846-7F17-EA87-836A-57A33E0934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273961-48ED-9FAB-3AFA-770C9A2E1F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17B9871-ECF9-F24D-7323-15840DE8CD24}"/>
              </a:ext>
            </a:extLst>
          </p:cNvPr>
          <p:cNvSpPr>
            <a:spLocks noGrp="1"/>
          </p:cNvSpPr>
          <p:nvPr>
            <p:ph type="dt" sz="half" idx="10"/>
          </p:nvPr>
        </p:nvSpPr>
        <p:spPr/>
        <p:txBody>
          <a:bodyPr/>
          <a:lstStyle/>
          <a:p>
            <a:fld id="{F949851D-C225-4D95-A5FB-46C74A625EC2}" type="datetimeFigureOut">
              <a:rPr lang="en-IN" smtClean="0"/>
              <a:t>15-02-2025</a:t>
            </a:fld>
            <a:endParaRPr lang="en-IN"/>
          </a:p>
        </p:txBody>
      </p:sp>
      <p:sp>
        <p:nvSpPr>
          <p:cNvPr id="8" name="Footer Placeholder 7">
            <a:extLst>
              <a:ext uri="{FF2B5EF4-FFF2-40B4-BE49-F238E27FC236}">
                <a16:creationId xmlns:a16="http://schemas.microsoft.com/office/drawing/2014/main" id="{63FC4838-0BE3-399E-5928-0584C8B960E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F6981F8-2C38-C7A1-461A-F9D36024CE01}"/>
              </a:ext>
            </a:extLst>
          </p:cNvPr>
          <p:cNvSpPr>
            <a:spLocks noGrp="1"/>
          </p:cNvSpPr>
          <p:nvPr>
            <p:ph type="sldNum" sz="quarter" idx="12"/>
          </p:nvPr>
        </p:nvSpPr>
        <p:spPr/>
        <p:txBody>
          <a:bodyPr/>
          <a:lstStyle/>
          <a:p>
            <a:fld id="{A73985ED-2965-42AD-899E-AFAA8F654DE5}" type="slidenum">
              <a:rPr lang="en-IN" smtClean="0"/>
              <a:t>‹#›</a:t>
            </a:fld>
            <a:endParaRPr lang="en-IN"/>
          </a:p>
        </p:txBody>
      </p:sp>
    </p:spTree>
    <p:extLst>
      <p:ext uri="{BB962C8B-B14F-4D97-AF65-F5344CB8AC3E}">
        <p14:creationId xmlns:p14="http://schemas.microsoft.com/office/powerpoint/2010/main" val="2382282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E89FD-5A06-B9D2-D341-C2905CE897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9B2CBA3-87D5-11ED-0851-5DB91D7C9C77}"/>
              </a:ext>
            </a:extLst>
          </p:cNvPr>
          <p:cNvSpPr>
            <a:spLocks noGrp="1"/>
          </p:cNvSpPr>
          <p:nvPr>
            <p:ph type="dt" sz="half" idx="10"/>
          </p:nvPr>
        </p:nvSpPr>
        <p:spPr/>
        <p:txBody>
          <a:bodyPr/>
          <a:lstStyle/>
          <a:p>
            <a:fld id="{F949851D-C225-4D95-A5FB-46C74A625EC2}" type="datetimeFigureOut">
              <a:rPr lang="en-IN" smtClean="0"/>
              <a:t>15-02-2025</a:t>
            </a:fld>
            <a:endParaRPr lang="en-IN"/>
          </a:p>
        </p:txBody>
      </p:sp>
      <p:sp>
        <p:nvSpPr>
          <p:cNvPr id="4" name="Footer Placeholder 3">
            <a:extLst>
              <a:ext uri="{FF2B5EF4-FFF2-40B4-BE49-F238E27FC236}">
                <a16:creationId xmlns:a16="http://schemas.microsoft.com/office/drawing/2014/main" id="{FBF4CD01-6BEB-A4B1-1A12-8387E439CF4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0417A5E-1146-FD6B-3065-8E6365681AEB}"/>
              </a:ext>
            </a:extLst>
          </p:cNvPr>
          <p:cNvSpPr>
            <a:spLocks noGrp="1"/>
          </p:cNvSpPr>
          <p:nvPr>
            <p:ph type="sldNum" sz="quarter" idx="12"/>
          </p:nvPr>
        </p:nvSpPr>
        <p:spPr/>
        <p:txBody>
          <a:bodyPr/>
          <a:lstStyle/>
          <a:p>
            <a:fld id="{A73985ED-2965-42AD-899E-AFAA8F654DE5}" type="slidenum">
              <a:rPr lang="en-IN" smtClean="0"/>
              <a:t>‹#›</a:t>
            </a:fld>
            <a:endParaRPr lang="en-IN"/>
          </a:p>
        </p:txBody>
      </p:sp>
    </p:spTree>
    <p:extLst>
      <p:ext uri="{BB962C8B-B14F-4D97-AF65-F5344CB8AC3E}">
        <p14:creationId xmlns:p14="http://schemas.microsoft.com/office/powerpoint/2010/main" val="751056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F9C82E-7E7E-D0EC-468B-670A6B9EA222}"/>
              </a:ext>
            </a:extLst>
          </p:cNvPr>
          <p:cNvSpPr>
            <a:spLocks noGrp="1"/>
          </p:cNvSpPr>
          <p:nvPr>
            <p:ph type="dt" sz="half" idx="10"/>
          </p:nvPr>
        </p:nvSpPr>
        <p:spPr/>
        <p:txBody>
          <a:bodyPr/>
          <a:lstStyle/>
          <a:p>
            <a:fld id="{F949851D-C225-4D95-A5FB-46C74A625EC2}" type="datetimeFigureOut">
              <a:rPr lang="en-IN" smtClean="0"/>
              <a:t>15-02-2025</a:t>
            </a:fld>
            <a:endParaRPr lang="en-IN"/>
          </a:p>
        </p:txBody>
      </p:sp>
      <p:sp>
        <p:nvSpPr>
          <p:cNvPr id="3" name="Footer Placeholder 2">
            <a:extLst>
              <a:ext uri="{FF2B5EF4-FFF2-40B4-BE49-F238E27FC236}">
                <a16:creationId xmlns:a16="http://schemas.microsoft.com/office/drawing/2014/main" id="{326711EE-55FD-543F-C3C4-7BD265AA976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938C850-6452-F65A-17F4-FC27C8B29774}"/>
              </a:ext>
            </a:extLst>
          </p:cNvPr>
          <p:cNvSpPr>
            <a:spLocks noGrp="1"/>
          </p:cNvSpPr>
          <p:nvPr>
            <p:ph type="sldNum" sz="quarter" idx="12"/>
          </p:nvPr>
        </p:nvSpPr>
        <p:spPr/>
        <p:txBody>
          <a:bodyPr/>
          <a:lstStyle/>
          <a:p>
            <a:fld id="{A73985ED-2965-42AD-899E-AFAA8F654DE5}" type="slidenum">
              <a:rPr lang="en-IN" smtClean="0"/>
              <a:t>‹#›</a:t>
            </a:fld>
            <a:endParaRPr lang="en-IN"/>
          </a:p>
        </p:txBody>
      </p:sp>
    </p:spTree>
    <p:extLst>
      <p:ext uri="{BB962C8B-B14F-4D97-AF65-F5344CB8AC3E}">
        <p14:creationId xmlns:p14="http://schemas.microsoft.com/office/powerpoint/2010/main" val="1697938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01FE5-8B02-5F41-A61F-F38830D164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D99746-4FEB-C4BA-93DE-481E7D11D2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AD19E7B-F1CB-56BE-5D61-FF5726309C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D20E0F-6A45-DDB1-C188-9F4951A51205}"/>
              </a:ext>
            </a:extLst>
          </p:cNvPr>
          <p:cNvSpPr>
            <a:spLocks noGrp="1"/>
          </p:cNvSpPr>
          <p:nvPr>
            <p:ph type="dt" sz="half" idx="10"/>
          </p:nvPr>
        </p:nvSpPr>
        <p:spPr/>
        <p:txBody>
          <a:bodyPr/>
          <a:lstStyle/>
          <a:p>
            <a:fld id="{F949851D-C225-4D95-A5FB-46C74A625EC2}" type="datetimeFigureOut">
              <a:rPr lang="en-IN" smtClean="0"/>
              <a:t>15-02-2025</a:t>
            </a:fld>
            <a:endParaRPr lang="en-IN"/>
          </a:p>
        </p:txBody>
      </p:sp>
      <p:sp>
        <p:nvSpPr>
          <p:cNvPr id="6" name="Footer Placeholder 5">
            <a:extLst>
              <a:ext uri="{FF2B5EF4-FFF2-40B4-BE49-F238E27FC236}">
                <a16:creationId xmlns:a16="http://schemas.microsoft.com/office/drawing/2014/main" id="{17904070-116F-93E8-1FFA-E225FC7EE4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85324B-795D-7FC1-8145-F2396C3DB9E0}"/>
              </a:ext>
            </a:extLst>
          </p:cNvPr>
          <p:cNvSpPr>
            <a:spLocks noGrp="1"/>
          </p:cNvSpPr>
          <p:nvPr>
            <p:ph type="sldNum" sz="quarter" idx="12"/>
          </p:nvPr>
        </p:nvSpPr>
        <p:spPr/>
        <p:txBody>
          <a:bodyPr/>
          <a:lstStyle/>
          <a:p>
            <a:fld id="{A73985ED-2965-42AD-899E-AFAA8F654DE5}" type="slidenum">
              <a:rPr lang="en-IN" smtClean="0"/>
              <a:t>‹#›</a:t>
            </a:fld>
            <a:endParaRPr lang="en-IN"/>
          </a:p>
        </p:txBody>
      </p:sp>
    </p:spTree>
    <p:extLst>
      <p:ext uri="{BB962C8B-B14F-4D97-AF65-F5344CB8AC3E}">
        <p14:creationId xmlns:p14="http://schemas.microsoft.com/office/powerpoint/2010/main" val="1337133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4731A-F44D-B8AA-239A-AD22E88407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49CC1F-5057-CCF3-4A9B-B5E6C54942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99B7A8-08DF-4719-B688-67DFA09DAA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5DF19-C3E1-5BF3-587F-CBC5A77E2DB8}"/>
              </a:ext>
            </a:extLst>
          </p:cNvPr>
          <p:cNvSpPr>
            <a:spLocks noGrp="1"/>
          </p:cNvSpPr>
          <p:nvPr>
            <p:ph type="dt" sz="half" idx="10"/>
          </p:nvPr>
        </p:nvSpPr>
        <p:spPr/>
        <p:txBody>
          <a:bodyPr/>
          <a:lstStyle/>
          <a:p>
            <a:fld id="{F949851D-C225-4D95-A5FB-46C74A625EC2}" type="datetimeFigureOut">
              <a:rPr lang="en-IN" smtClean="0"/>
              <a:t>15-02-2025</a:t>
            </a:fld>
            <a:endParaRPr lang="en-IN"/>
          </a:p>
        </p:txBody>
      </p:sp>
      <p:sp>
        <p:nvSpPr>
          <p:cNvPr id="6" name="Footer Placeholder 5">
            <a:extLst>
              <a:ext uri="{FF2B5EF4-FFF2-40B4-BE49-F238E27FC236}">
                <a16:creationId xmlns:a16="http://schemas.microsoft.com/office/drawing/2014/main" id="{BC0FF5FD-230C-1528-00B1-BAE107DE1F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426F68-1DF1-5372-1AD2-71189B1D0D37}"/>
              </a:ext>
            </a:extLst>
          </p:cNvPr>
          <p:cNvSpPr>
            <a:spLocks noGrp="1"/>
          </p:cNvSpPr>
          <p:nvPr>
            <p:ph type="sldNum" sz="quarter" idx="12"/>
          </p:nvPr>
        </p:nvSpPr>
        <p:spPr/>
        <p:txBody>
          <a:bodyPr/>
          <a:lstStyle/>
          <a:p>
            <a:fld id="{A73985ED-2965-42AD-899E-AFAA8F654DE5}" type="slidenum">
              <a:rPr lang="en-IN" smtClean="0"/>
              <a:t>‹#›</a:t>
            </a:fld>
            <a:endParaRPr lang="en-IN"/>
          </a:p>
        </p:txBody>
      </p:sp>
    </p:spTree>
    <p:extLst>
      <p:ext uri="{BB962C8B-B14F-4D97-AF65-F5344CB8AC3E}">
        <p14:creationId xmlns:p14="http://schemas.microsoft.com/office/powerpoint/2010/main" val="869445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BB50B-D5BC-59F5-4072-655EC81BE1E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55824B-36E3-A5E0-6DB4-D85B92C359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21E932-C875-9997-09E2-A17C5B23EB0F}"/>
              </a:ext>
            </a:extLst>
          </p:cNvPr>
          <p:cNvSpPr>
            <a:spLocks noGrp="1"/>
          </p:cNvSpPr>
          <p:nvPr>
            <p:ph type="dt" sz="half" idx="10"/>
          </p:nvPr>
        </p:nvSpPr>
        <p:spPr/>
        <p:txBody>
          <a:bodyPr/>
          <a:lstStyle/>
          <a:p>
            <a:fld id="{F949851D-C225-4D95-A5FB-46C74A625EC2}" type="datetimeFigureOut">
              <a:rPr lang="en-IN" smtClean="0"/>
              <a:t>15-02-2025</a:t>
            </a:fld>
            <a:endParaRPr lang="en-IN"/>
          </a:p>
        </p:txBody>
      </p:sp>
      <p:sp>
        <p:nvSpPr>
          <p:cNvPr id="5" name="Footer Placeholder 4">
            <a:extLst>
              <a:ext uri="{FF2B5EF4-FFF2-40B4-BE49-F238E27FC236}">
                <a16:creationId xmlns:a16="http://schemas.microsoft.com/office/drawing/2014/main" id="{1D866AFF-E315-1A77-5674-9AD79BE06D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7CB752-5B09-55E5-CC26-3B3A6634B5D2}"/>
              </a:ext>
            </a:extLst>
          </p:cNvPr>
          <p:cNvSpPr>
            <a:spLocks noGrp="1"/>
          </p:cNvSpPr>
          <p:nvPr>
            <p:ph type="sldNum" sz="quarter" idx="12"/>
          </p:nvPr>
        </p:nvSpPr>
        <p:spPr/>
        <p:txBody>
          <a:bodyPr/>
          <a:lstStyle/>
          <a:p>
            <a:fld id="{A73985ED-2965-42AD-899E-AFAA8F654DE5}" type="slidenum">
              <a:rPr lang="en-IN" smtClean="0"/>
              <a:t>‹#›</a:t>
            </a:fld>
            <a:endParaRPr lang="en-IN"/>
          </a:p>
        </p:txBody>
      </p:sp>
    </p:spTree>
    <p:extLst>
      <p:ext uri="{BB962C8B-B14F-4D97-AF65-F5344CB8AC3E}">
        <p14:creationId xmlns:p14="http://schemas.microsoft.com/office/powerpoint/2010/main" val="2242287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F23953-C31C-D5A3-99DE-AE30E667E1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7913C99-1A77-345F-4183-CCC9544513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34EC16-BA88-83B6-6698-DF0E27EC413A}"/>
              </a:ext>
            </a:extLst>
          </p:cNvPr>
          <p:cNvSpPr>
            <a:spLocks noGrp="1"/>
          </p:cNvSpPr>
          <p:nvPr>
            <p:ph type="dt" sz="half" idx="10"/>
          </p:nvPr>
        </p:nvSpPr>
        <p:spPr/>
        <p:txBody>
          <a:bodyPr/>
          <a:lstStyle/>
          <a:p>
            <a:fld id="{F949851D-C225-4D95-A5FB-46C74A625EC2}" type="datetimeFigureOut">
              <a:rPr lang="en-IN" smtClean="0"/>
              <a:t>15-02-2025</a:t>
            </a:fld>
            <a:endParaRPr lang="en-IN"/>
          </a:p>
        </p:txBody>
      </p:sp>
      <p:sp>
        <p:nvSpPr>
          <p:cNvPr id="5" name="Footer Placeholder 4">
            <a:extLst>
              <a:ext uri="{FF2B5EF4-FFF2-40B4-BE49-F238E27FC236}">
                <a16:creationId xmlns:a16="http://schemas.microsoft.com/office/drawing/2014/main" id="{CDDFBA85-1C5C-853B-CACC-0ACD0F0D49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667975-B037-89ED-7BE0-9A3A739D6DF1}"/>
              </a:ext>
            </a:extLst>
          </p:cNvPr>
          <p:cNvSpPr>
            <a:spLocks noGrp="1"/>
          </p:cNvSpPr>
          <p:nvPr>
            <p:ph type="sldNum" sz="quarter" idx="12"/>
          </p:nvPr>
        </p:nvSpPr>
        <p:spPr/>
        <p:txBody>
          <a:bodyPr/>
          <a:lstStyle/>
          <a:p>
            <a:fld id="{A73985ED-2965-42AD-899E-AFAA8F654DE5}" type="slidenum">
              <a:rPr lang="en-IN" smtClean="0"/>
              <a:t>‹#›</a:t>
            </a:fld>
            <a:endParaRPr lang="en-IN"/>
          </a:p>
        </p:txBody>
      </p:sp>
    </p:spTree>
    <p:extLst>
      <p:ext uri="{BB962C8B-B14F-4D97-AF65-F5344CB8AC3E}">
        <p14:creationId xmlns:p14="http://schemas.microsoft.com/office/powerpoint/2010/main" val="712843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AA35A1-6F69-3821-40A9-3799FDC6C7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E63AF3D-209E-54FC-E8A4-C5CBB00FF0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5CF0D8-E436-5CC4-CB7B-65D56D3DD2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49851D-C225-4D95-A5FB-46C74A625EC2}" type="datetimeFigureOut">
              <a:rPr lang="en-IN" smtClean="0"/>
              <a:t>15-02-2025</a:t>
            </a:fld>
            <a:endParaRPr lang="en-IN"/>
          </a:p>
        </p:txBody>
      </p:sp>
      <p:sp>
        <p:nvSpPr>
          <p:cNvPr id="5" name="Footer Placeholder 4">
            <a:extLst>
              <a:ext uri="{FF2B5EF4-FFF2-40B4-BE49-F238E27FC236}">
                <a16:creationId xmlns:a16="http://schemas.microsoft.com/office/drawing/2014/main" id="{FB53054A-9538-3DDB-0E48-A2BBAAFADE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B0C9C5-6702-707D-8211-248EADA02D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3985ED-2965-42AD-899E-AFAA8F654DE5}" type="slidenum">
              <a:rPr lang="en-IN" smtClean="0"/>
              <a:t>‹#›</a:t>
            </a:fld>
            <a:endParaRPr lang="en-IN"/>
          </a:p>
        </p:txBody>
      </p:sp>
    </p:spTree>
    <p:extLst>
      <p:ext uri="{BB962C8B-B14F-4D97-AF65-F5344CB8AC3E}">
        <p14:creationId xmlns:p14="http://schemas.microsoft.com/office/powerpoint/2010/main" val="2825913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11.webp"/><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jpg"/><Relationship Id="rId1" Type="http://schemas.openxmlformats.org/officeDocument/2006/relationships/slideLayout" Target="../slideLayouts/slideLayout5.xml"/><Relationship Id="rId6" Type="http://schemas.openxmlformats.org/officeDocument/2006/relationships/image" Target="../media/image9.png"/><Relationship Id="rId11" Type="http://schemas.openxmlformats.org/officeDocument/2006/relationships/image" Target="../media/image1.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webp"/></Relationships>
</file>

<file path=ppt/slides/_rels/slide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15.jpeg"/></Relationships>
</file>

<file path=ppt/slides/_rels/slide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17.jpg"/></Relationships>
</file>

<file path=ppt/slides/_rels/slide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5.xml"/><Relationship Id="rId5" Type="http://schemas.openxmlformats.org/officeDocument/2006/relationships/image" Target="../media/image20.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28.webp"/></Relationships>
</file>

<file path=ppt/slides/_rels/slide12.xml.rels><?xml version="1.0" encoding="UTF-8" standalone="yes"?>
<Relationships xmlns="http://schemas.openxmlformats.org/package/2006/relationships"><Relationship Id="rId3" Type="http://schemas.openxmlformats.org/officeDocument/2006/relationships/image" Target="../media/image30.sv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5.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20000"/>
                <a:lumOff val="80000"/>
              </a:schemeClr>
            </a:gs>
            <a:gs pos="74000">
              <a:schemeClr val="accent4">
                <a:lumMod val="60000"/>
                <a:lumOff val="40000"/>
              </a:schemeClr>
            </a:gs>
            <a:gs pos="83000">
              <a:schemeClr val="accent4">
                <a:lumMod val="60000"/>
                <a:lumOff val="40000"/>
              </a:schemeClr>
            </a:gs>
            <a:gs pos="100000">
              <a:schemeClr val="accent4">
                <a:lumMod val="75000"/>
              </a:schemeClr>
            </a:gs>
          </a:gsLst>
          <a:lin ang="5400000" scaled="1"/>
        </a:gradFill>
        <a:effectLst/>
      </p:bgPr>
    </p:bg>
    <p:spTree>
      <p:nvGrpSpPr>
        <p:cNvPr id="1" name="">
          <a:extLst>
            <a:ext uri="{FF2B5EF4-FFF2-40B4-BE49-F238E27FC236}">
              <a16:creationId xmlns:a16="http://schemas.microsoft.com/office/drawing/2014/main" id="{9031B808-AF0B-1370-7B8D-19DAA172D32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A55F7E0-4F75-F9F9-7E12-DD8E8EF3A1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93009" y="245392"/>
            <a:ext cx="1874120" cy="752487"/>
          </a:xfrm>
          <a:prstGeom prst="rect">
            <a:avLst/>
          </a:prstGeom>
        </p:spPr>
      </p:pic>
      <p:pic>
        <p:nvPicPr>
          <p:cNvPr id="6" name="Graphic 5">
            <a:extLst>
              <a:ext uri="{FF2B5EF4-FFF2-40B4-BE49-F238E27FC236}">
                <a16:creationId xmlns:a16="http://schemas.microsoft.com/office/drawing/2014/main" id="{BC4C64E1-6D69-544C-0C10-1936EAD1137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49912" y="2818534"/>
            <a:ext cx="3829050" cy="3714750"/>
          </a:xfrm>
          <a:prstGeom prst="rect">
            <a:avLst/>
          </a:prstGeom>
        </p:spPr>
      </p:pic>
      <p:pic>
        <p:nvPicPr>
          <p:cNvPr id="12" name="Picture 11">
            <a:extLst>
              <a:ext uri="{FF2B5EF4-FFF2-40B4-BE49-F238E27FC236}">
                <a16:creationId xmlns:a16="http://schemas.microsoft.com/office/drawing/2014/main" id="{CD54D80D-BAF7-D35D-9FF4-613C038254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5084" y="803562"/>
            <a:ext cx="5440770" cy="2383028"/>
          </a:xfrm>
          <a:prstGeom prst="rect">
            <a:avLst/>
          </a:prstGeom>
        </p:spPr>
      </p:pic>
      <p:sp>
        <p:nvSpPr>
          <p:cNvPr id="13" name="Rectangle 12">
            <a:extLst>
              <a:ext uri="{FF2B5EF4-FFF2-40B4-BE49-F238E27FC236}">
                <a16:creationId xmlns:a16="http://schemas.microsoft.com/office/drawing/2014/main" id="{57D479E7-7362-5B37-E58D-43BA6BD656E0}"/>
              </a:ext>
            </a:extLst>
          </p:cNvPr>
          <p:cNvSpPr/>
          <p:nvPr/>
        </p:nvSpPr>
        <p:spPr>
          <a:xfrm>
            <a:off x="0" y="3429153"/>
            <a:ext cx="6456219" cy="1754326"/>
          </a:xfrm>
          <a:prstGeom prst="rect">
            <a:avLst/>
          </a:prstGeom>
          <a:noFill/>
        </p:spPr>
        <p:txBody>
          <a:bodyPr wrap="square" lIns="91440" tIns="45720" rIns="91440" bIns="45720">
            <a:spAutoFit/>
          </a:bodyPr>
          <a:lstStyle/>
          <a:p>
            <a:pPr algn="ctr"/>
            <a:r>
              <a:rPr lang="en-US" sz="5400" dirty="0">
                <a:ln w="0"/>
                <a:solidFill>
                  <a:schemeClr val="accent1"/>
                </a:solidFill>
                <a:effectLst>
                  <a:glow rad="101600">
                    <a:schemeClr val="accent1">
                      <a:lumMod val="20000"/>
                      <a:lumOff val="80000"/>
                      <a:alpha val="60000"/>
                    </a:schemeClr>
                  </a:glow>
                  <a:outerShdw blurRad="50800" dist="38100" dir="5400000" algn="t" rotWithShape="0">
                    <a:prstClr val="black">
                      <a:alpha val="40000"/>
                    </a:prstClr>
                  </a:outerShdw>
                </a:effectLst>
              </a:rPr>
              <a:t>W</a:t>
            </a:r>
            <a:r>
              <a:rPr lang="en-US" sz="5400" b="0" cap="none" spc="0" dirty="0">
                <a:ln w="0"/>
                <a:solidFill>
                  <a:schemeClr val="accent1"/>
                </a:solidFill>
                <a:effectLst>
                  <a:glow rad="101600">
                    <a:schemeClr val="accent1">
                      <a:lumMod val="20000"/>
                      <a:lumOff val="80000"/>
                      <a:alpha val="60000"/>
                    </a:schemeClr>
                  </a:glow>
                  <a:outerShdw blurRad="50800" dist="38100" dir="5400000" algn="t" rotWithShape="0">
                    <a:prstClr val="black">
                      <a:alpha val="40000"/>
                    </a:prstClr>
                  </a:outerShdw>
                </a:effectLst>
              </a:rPr>
              <a:t>ho all are written medium blogs</a:t>
            </a:r>
          </a:p>
        </p:txBody>
      </p:sp>
    </p:spTree>
    <p:extLst>
      <p:ext uri="{BB962C8B-B14F-4D97-AF65-F5344CB8AC3E}">
        <p14:creationId xmlns:p14="http://schemas.microsoft.com/office/powerpoint/2010/main" val="751456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B7C4F-01FD-4A9C-C5B3-DC539BFB1452}"/>
              </a:ext>
            </a:extLst>
          </p:cNvPr>
          <p:cNvSpPr>
            <a:spLocks noGrp="1"/>
          </p:cNvSpPr>
          <p:nvPr>
            <p:ph type="title"/>
          </p:nvPr>
        </p:nvSpPr>
        <p:spPr>
          <a:xfrm>
            <a:off x="285606" y="281998"/>
            <a:ext cx="10515600" cy="595457"/>
          </a:xfrm>
        </p:spPr>
        <p:txBody>
          <a:bodyPr>
            <a:normAutofit/>
          </a:bodyPr>
          <a:lstStyle/>
          <a:p>
            <a:r>
              <a:rPr lang="en-US" sz="2400" b="1" dirty="0"/>
              <a:t>1. What Are Large Language Models (LLMs)?</a:t>
            </a:r>
          </a:p>
        </p:txBody>
      </p:sp>
      <p:sp>
        <p:nvSpPr>
          <p:cNvPr id="4" name="Content Placeholder 3">
            <a:extLst>
              <a:ext uri="{FF2B5EF4-FFF2-40B4-BE49-F238E27FC236}">
                <a16:creationId xmlns:a16="http://schemas.microsoft.com/office/drawing/2014/main" id="{A07D8268-4278-8308-4FCE-14D1C2A3974A}"/>
              </a:ext>
            </a:extLst>
          </p:cNvPr>
          <p:cNvSpPr>
            <a:spLocks noGrp="1"/>
          </p:cNvSpPr>
          <p:nvPr>
            <p:ph sz="half" idx="2"/>
          </p:nvPr>
        </p:nvSpPr>
        <p:spPr>
          <a:xfrm>
            <a:off x="534988" y="932875"/>
            <a:ext cx="7038830" cy="2087416"/>
          </a:xfrm>
        </p:spPr>
        <p:txBody>
          <a:bodyPr>
            <a:noAutofit/>
          </a:bodyPr>
          <a:lstStyle/>
          <a:p>
            <a:pPr marL="0" indent="0">
              <a:buNone/>
            </a:pPr>
            <a:r>
              <a:rPr lang="en-US" sz="1400" dirty="0"/>
              <a:t>Large Language Models (LLMs) are advanced artificial intelligence systems designed to understand and generate human-like text. Built upon deep learning architectures, particularly transformers, these models are trained on vast datasets encompassing books, articles, and web content. Through this extensive training, LLMs learn the nuances of language, enabling them to perform a variety of tasks such as answering questions, drafting content, translating languages, and summarizing information. Their versatility has led to applications across numerous fields, including customer service, content creation, and code generation. However, despite their impressive capabilities, LLMs can sometimes produce incorrect or biased outputs, reflecting the data they were trained on. Ongoing research aims to enhance their accuracy, fairness, and efficiency. </a:t>
            </a:r>
          </a:p>
        </p:txBody>
      </p:sp>
      <p:sp>
        <p:nvSpPr>
          <p:cNvPr id="5" name="TextBox 4">
            <a:extLst>
              <a:ext uri="{FF2B5EF4-FFF2-40B4-BE49-F238E27FC236}">
                <a16:creationId xmlns:a16="http://schemas.microsoft.com/office/drawing/2014/main" id="{D4F17104-F244-E40C-1F87-83930DE3229F}"/>
              </a:ext>
            </a:extLst>
          </p:cNvPr>
          <p:cNvSpPr txBox="1"/>
          <p:nvPr/>
        </p:nvSpPr>
        <p:spPr>
          <a:xfrm>
            <a:off x="323272" y="6017551"/>
            <a:ext cx="6096000" cy="369332"/>
          </a:xfrm>
          <a:prstGeom prst="rect">
            <a:avLst/>
          </a:prstGeom>
          <a:noFill/>
        </p:spPr>
        <p:txBody>
          <a:bodyPr wrap="square">
            <a:spAutoFit/>
          </a:bodyPr>
          <a:lstStyle/>
          <a:p>
            <a:pPr marL="0" indent="0">
              <a:buNone/>
            </a:pPr>
            <a:r>
              <a:rPr lang="en-IN" dirty="0"/>
              <a:t>https://artificialanalysis.ai/leaderboards/models</a:t>
            </a:r>
          </a:p>
        </p:txBody>
      </p:sp>
      <p:pic>
        <p:nvPicPr>
          <p:cNvPr id="7" name="Picture 6">
            <a:extLst>
              <a:ext uri="{FF2B5EF4-FFF2-40B4-BE49-F238E27FC236}">
                <a16:creationId xmlns:a16="http://schemas.microsoft.com/office/drawing/2014/main" id="{6C2BFD58-F6CF-37E1-B5B4-972739B418AD}"/>
              </a:ext>
            </a:extLst>
          </p:cNvPr>
          <p:cNvPicPr>
            <a:picLocks noChangeAspect="1"/>
          </p:cNvPicPr>
          <p:nvPr/>
        </p:nvPicPr>
        <p:blipFill rotWithShape="1">
          <a:blip r:embed="rId2">
            <a:extLst>
              <a:ext uri="{28A0092B-C50C-407E-A947-70E740481C1C}">
                <a14:useLocalDpi xmlns:a14="http://schemas.microsoft.com/office/drawing/2010/main" val="0"/>
              </a:ext>
            </a:extLst>
          </a:blip>
          <a:srcRect t="13592"/>
          <a:stretch/>
        </p:blipFill>
        <p:spPr>
          <a:xfrm>
            <a:off x="7854373" y="938427"/>
            <a:ext cx="3552926" cy="1878664"/>
          </a:xfrm>
          <a:prstGeom prst="rect">
            <a:avLst/>
          </a:prstGeom>
        </p:spPr>
      </p:pic>
      <p:pic>
        <p:nvPicPr>
          <p:cNvPr id="9" name="Picture 8">
            <a:extLst>
              <a:ext uri="{FF2B5EF4-FFF2-40B4-BE49-F238E27FC236}">
                <a16:creationId xmlns:a16="http://schemas.microsoft.com/office/drawing/2014/main" id="{6E09DC2C-F62E-5533-23BC-6059AC2B6F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6475" y="4850196"/>
            <a:ext cx="2041236" cy="310816"/>
          </a:xfrm>
          <a:prstGeom prst="rect">
            <a:avLst/>
          </a:prstGeom>
        </p:spPr>
      </p:pic>
      <p:pic>
        <p:nvPicPr>
          <p:cNvPr id="11" name="Picture 10">
            <a:extLst>
              <a:ext uri="{FF2B5EF4-FFF2-40B4-BE49-F238E27FC236}">
                <a16:creationId xmlns:a16="http://schemas.microsoft.com/office/drawing/2014/main" id="{E0890F7C-AC80-617B-9C78-BEED3C5CDA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4652" y="4796364"/>
            <a:ext cx="1978271" cy="418480"/>
          </a:xfrm>
          <a:prstGeom prst="rect">
            <a:avLst/>
          </a:prstGeom>
        </p:spPr>
      </p:pic>
      <p:pic>
        <p:nvPicPr>
          <p:cNvPr id="13" name="Picture 12">
            <a:extLst>
              <a:ext uri="{FF2B5EF4-FFF2-40B4-BE49-F238E27FC236}">
                <a16:creationId xmlns:a16="http://schemas.microsoft.com/office/drawing/2014/main" id="{DC10C368-46EC-2ABF-2884-02647090F9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6473" y="3480068"/>
            <a:ext cx="1986575" cy="708825"/>
          </a:xfrm>
          <a:prstGeom prst="rect">
            <a:avLst/>
          </a:prstGeom>
        </p:spPr>
      </p:pic>
      <p:pic>
        <p:nvPicPr>
          <p:cNvPr id="15" name="Picture 14">
            <a:extLst>
              <a:ext uri="{FF2B5EF4-FFF2-40B4-BE49-F238E27FC236}">
                <a16:creationId xmlns:a16="http://schemas.microsoft.com/office/drawing/2014/main" id="{81C0CF7D-B362-CB13-AD2D-325AC98234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29753" y="3513661"/>
            <a:ext cx="1662546" cy="641639"/>
          </a:xfrm>
          <a:prstGeom prst="rect">
            <a:avLst/>
          </a:prstGeom>
        </p:spPr>
      </p:pic>
      <p:pic>
        <p:nvPicPr>
          <p:cNvPr id="17" name="Picture 16">
            <a:extLst>
              <a:ext uri="{FF2B5EF4-FFF2-40B4-BE49-F238E27FC236}">
                <a16:creationId xmlns:a16="http://schemas.microsoft.com/office/drawing/2014/main" id="{EDB08682-EADC-ADA9-146F-31F9BF60ECF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09004" y="3481054"/>
            <a:ext cx="2429164" cy="706853"/>
          </a:xfrm>
          <a:prstGeom prst="rect">
            <a:avLst/>
          </a:prstGeom>
        </p:spPr>
      </p:pic>
      <p:pic>
        <p:nvPicPr>
          <p:cNvPr id="19" name="Picture 18">
            <a:extLst>
              <a:ext uri="{FF2B5EF4-FFF2-40B4-BE49-F238E27FC236}">
                <a16:creationId xmlns:a16="http://schemas.microsoft.com/office/drawing/2014/main" id="{F6FD8B77-A8F4-9630-3685-6BC824AF229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21796" y="4691568"/>
            <a:ext cx="896749" cy="628073"/>
          </a:xfrm>
          <a:prstGeom prst="rect">
            <a:avLst/>
          </a:prstGeom>
        </p:spPr>
      </p:pic>
      <p:pic>
        <p:nvPicPr>
          <p:cNvPr id="21" name="Picture 20">
            <a:extLst>
              <a:ext uri="{FF2B5EF4-FFF2-40B4-BE49-F238E27FC236}">
                <a16:creationId xmlns:a16="http://schemas.microsoft.com/office/drawing/2014/main" id="{B9B1B75D-8180-4E73-0FDB-11AC1A9E67B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786255" y="4629872"/>
            <a:ext cx="2346036" cy="751465"/>
          </a:xfrm>
          <a:prstGeom prst="rect">
            <a:avLst/>
          </a:prstGeom>
        </p:spPr>
      </p:pic>
      <p:pic>
        <p:nvPicPr>
          <p:cNvPr id="23" name="Picture 22">
            <a:extLst>
              <a:ext uri="{FF2B5EF4-FFF2-40B4-BE49-F238E27FC236}">
                <a16:creationId xmlns:a16="http://schemas.microsoft.com/office/drawing/2014/main" id="{6C35609E-4C75-4AC9-51AC-90915161129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854872" y="3546889"/>
            <a:ext cx="2988620" cy="575183"/>
          </a:xfrm>
          <a:prstGeom prst="rect">
            <a:avLst/>
          </a:prstGeom>
        </p:spPr>
      </p:pic>
      <p:pic>
        <p:nvPicPr>
          <p:cNvPr id="24" name="Picture 23">
            <a:extLst>
              <a:ext uri="{FF2B5EF4-FFF2-40B4-BE49-F238E27FC236}">
                <a16:creationId xmlns:a16="http://schemas.microsoft.com/office/drawing/2014/main" id="{16383E8D-3BD1-6809-142C-79B429793EA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631055" y="254629"/>
            <a:ext cx="1136073" cy="354972"/>
          </a:xfrm>
          <a:prstGeom prst="rect">
            <a:avLst/>
          </a:prstGeom>
        </p:spPr>
      </p:pic>
    </p:spTree>
    <p:extLst>
      <p:ext uri="{BB962C8B-B14F-4D97-AF65-F5344CB8AC3E}">
        <p14:creationId xmlns:p14="http://schemas.microsoft.com/office/powerpoint/2010/main" val="61272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070A4-075A-07CE-8AFD-747817D294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2862F7-A020-7331-19D1-AD453A95CD7C}"/>
              </a:ext>
            </a:extLst>
          </p:cNvPr>
          <p:cNvSpPr>
            <a:spLocks noGrp="1"/>
          </p:cNvSpPr>
          <p:nvPr>
            <p:ph type="title"/>
          </p:nvPr>
        </p:nvSpPr>
        <p:spPr>
          <a:xfrm>
            <a:off x="341024" y="300471"/>
            <a:ext cx="6854103" cy="503093"/>
          </a:xfrm>
        </p:spPr>
        <p:txBody>
          <a:bodyPr>
            <a:normAutofit/>
          </a:bodyPr>
          <a:lstStyle/>
          <a:p>
            <a:r>
              <a:rPr lang="en-US" sz="2400" b="1" dirty="0"/>
              <a:t>What is processor </a:t>
            </a:r>
            <a:endParaRPr lang="en-IN" sz="2400" b="1" dirty="0"/>
          </a:p>
        </p:txBody>
      </p:sp>
      <p:sp>
        <p:nvSpPr>
          <p:cNvPr id="6" name="TextBox 5">
            <a:extLst>
              <a:ext uri="{FF2B5EF4-FFF2-40B4-BE49-F238E27FC236}">
                <a16:creationId xmlns:a16="http://schemas.microsoft.com/office/drawing/2014/main" id="{8836E136-5E9B-F049-F200-82265839325C}"/>
              </a:ext>
            </a:extLst>
          </p:cNvPr>
          <p:cNvSpPr txBox="1"/>
          <p:nvPr/>
        </p:nvSpPr>
        <p:spPr>
          <a:xfrm>
            <a:off x="341024" y="794326"/>
            <a:ext cx="11157526" cy="1169551"/>
          </a:xfrm>
          <a:prstGeom prst="rect">
            <a:avLst/>
          </a:prstGeom>
          <a:noFill/>
        </p:spPr>
        <p:txBody>
          <a:bodyPr wrap="square" rtlCol="0">
            <a:spAutoFit/>
          </a:bodyPr>
          <a:lstStyle/>
          <a:p>
            <a:r>
              <a:rPr lang="en-US" sz="1400" dirty="0"/>
              <a:t>A </a:t>
            </a:r>
            <a:r>
              <a:rPr lang="en-US" sz="1400" b="1" dirty="0"/>
              <a:t>processor</a:t>
            </a:r>
            <a:r>
              <a:rPr lang="en-US" sz="1400" dirty="0"/>
              <a:t> is an electronic circuit that executes instructions and performs calculations to run computer programs. It acts as the </a:t>
            </a:r>
            <a:r>
              <a:rPr lang="en-US" sz="1400" b="1" dirty="0"/>
              <a:t>brain of a computer</a:t>
            </a:r>
            <a:r>
              <a:rPr lang="en-US" sz="1400" dirty="0"/>
              <a:t>, handling tasks such as </a:t>
            </a:r>
            <a:r>
              <a:rPr lang="en-US" sz="1400" b="1" dirty="0"/>
              <a:t>data processing, arithmetic operations, and decision-making</a:t>
            </a:r>
            <a:r>
              <a:rPr lang="en-US" sz="1400" dirty="0"/>
              <a:t>. Processors can be classified into different types, including </a:t>
            </a:r>
            <a:r>
              <a:rPr lang="en-US" sz="1400" b="1" dirty="0"/>
              <a:t>Central Processing Units (CPUs)</a:t>
            </a:r>
            <a:r>
              <a:rPr lang="en-US" sz="1400" dirty="0"/>
              <a:t> for general computing, </a:t>
            </a:r>
            <a:r>
              <a:rPr lang="en-US" sz="1400" b="1" dirty="0"/>
              <a:t>Graphics Processing Units (GPUs)</a:t>
            </a:r>
            <a:r>
              <a:rPr lang="en-US" sz="1400" dirty="0"/>
              <a:t> for parallel processing and graphics rendering, </a:t>
            </a:r>
            <a:r>
              <a:rPr lang="en-US" sz="1400" b="1" dirty="0"/>
              <a:t>Tensor Processing Units (TPUs)</a:t>
            </a:r>
            <a:r>
              <a:rPr lang="en-US" sz="1400" dirty="0"/>
              <a:t> optimized for AI and machine learning, and </a:t>
            </a:r>
            <a:r>
              <a:rPr lang="en-US" sz="1400" b="1" dirty="0"/>
              <a:t>Data Processing Units (DPUs)</a:t>
            </a:r>
            <a:r>
              <a:rPr lang="en-US" sz="1400" dirty="0"/>
              <a:t> designed for high-speed networking, security, and cloud data management. Each type of processor is specialized to improve efficiency and performance in different computing environments.</a:t>
            </a:r>
          </a:p>
        </p:txBody>
      </p:sp>
      <p:sp>
        <p:nvSpPr>
          <p:cNvPr id="10" name="Title 1">
            <a:extLst>
              <a:ext uri="{FF2B5EF4-FFF2-40B4-BE49-F238E27FC236}">
                <a16:creationId xmlns:a16="http://schemas.microsoft.com/office/drawing/2014/main" id="{1FE1F1B7-B90C-C61F-5E26-7E0177092073}"/>
              </a:ext>
            </a:extLst>
          </p:cNvPr>
          <p:cNvSpPr txBox="1">
            <a:spLocks/>
          </p:cNvSpPr>
          <p:nvPr/>
        </p:nvSpPr>
        <p:spPr>
          <a:xfrm>
            <a:off x="1063746" y="6162050"/>
            <a:ext cx="4505781" cy="5030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t>1. Mathematical Operations in Neural Networks</a:t>
            </a:r>
            <a:endParaRPr lang="en-IN" sz="1600" b="1" dirty="0"/>
          </a:p>
        </p:txBody>
      </p:sp>
      <p:sp>
        <p:nvSpPr>
          <p:cNvPr id="12" name="Title 1">
            <a:extLst>
              <a:ext uri="{FF2B5EF4-FFF2-40B4-BE49-F238E27FC236}">
                <a16:creationId xmlns:a16="http://schemas.microsoft.com/office/drawing/2014/main" id="{F5AC32FF-0ABA-7530-3E41-893EFCB3B50C}"/>
              </a:ext>
            </a:extLst>
          </p:cNvPr>
          <p:cNvSpPr txBox="1">
            <a:spLocks/>
          </p:cNvSpPr>
          <p:nvPr/>
        </p:nvSpPr>
        <p:spPr>
          <a:xfrm>
            <a:off x="7799387" y="6162050"/>
            <a:ext cx="3106663" cy="5030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t>2. Parallel Processing for Efficiency</a:t>
            </a:r>
          </a:p>
        </p:txBody>
      </p:sp>
      <p:pic>
        <p:nvPicPr>
          <p:cNvPr id="16" name="Picture 15">
            <a:extLst>
              <a:ext uri="{FF2B5EF4-FFF2-40B4-BE49-F238E27FC236}">
                <a16:creationId xmlns:a16="http://schemas.microsoft.com/office/drawing/2014/main" id="{4DD7F3E8-7731-F52A-B15D-1E77CFEA0B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31055" y="254629"/>
            <a:ext cx="1136073" cy="354972"/>
          </a:xfrm>
          <a:prstGeom prst="rect">
            <a:avLst/>
          </a:prstGeom>
        </p:spPr>
      </p:pic>
      <p:pic>
        <p:nvPicPr>
          <p:cNvPr id="4" name="Picture 3">
            <a:extLst>
              <a:ext uri="{FF2B5EF4-FFF2-40B4-BE49-F238E27FC236}">
                <a16:creationId xmlns:a16="http://schemas.microsoft.com/office/drawing/2014/main" id="{4E15A024-051D-8061-84B2-638BB0E83F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782" y="2178410"/>
            <a:ext cx="5183909" cy="3887932"/>
          </a:xfrm>
          <a:prstGeom prst="rect">
            <a:avLst/>
          </a:prstGeom>
        </p:spPr>
      </p:pic>
      <p:pic>
        <p:nvPicPr>
          <p:cNvPr id="7" name="Picture 6">
            <a:extLst>
              <a:ext uri="{FF2B5EF4-FFF2-40B4-BE49-F238E27FC236}">
                <a16:creationId xmlns:a16="http://schemas.microsoft.com/office/drawing/2014/main" id="{0528424C-3010-FF5D-2E26-6DE677A675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3091" y="2196594"/>
            <a:ext cx="5135418" cy="3851564"/>
          </a:xfrm>
          <a:prstGeom prst="rect">
            <a:avLst/>
          </a:prstGeom>
        </p:spPr>
      </p:pic>
    </p:spTree>
    <p:extLst>
      <p:ext uri="{BB962C8B-B14F-4D97-AF65-F5344CB8AC3E}">
        <p14:creationId xmlns:p14="http://schemas.microsoft.com/office/powerpoint/2010/main" val="445652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070A4-075A-07CE-8AFD-747817D2946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F68B9A-3A37-1DBC-D678-E2B802E25903}"/>
              </a:ext>
            </a:extLst>
          </p:cNvPr>
          <p:cNvSpPr txBox="1">
            <a:spLocks/>
          </p:cNvSpPr>
          <p:nvPr/>
        </p:nvSpPr>
        <p:spPr>
          <a:xfrm>
            <a:off x="526739" y="4319858"/>
            <a:ext cx="4140038" cy="5030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t>3. Real-Time Inference:</a:t>
            </a:r>
            <a:endParaRPr lang="en-IN" sz="1600" b="1" dirty="0"/>
          </a:p>
        </p:txBody>
      </p:sp>
      <p:sp>
        <p:nvSpPr>
          <p:cNvPr id="7" name="TextBox 6">
            <a:extLst>
              <a:ext uri="{FF2B5EF4-FFF2-40B4-BE49-F238E27FC236}">
                <a16:creationId xmlns:a16="http://schemas.microsoft.com/office/drawing/2014/main" id="{B2DBA3C9-F03D-61E7-0345-AA337C7F125E}"/>
              </a:ext>
            </a:extLst>
          </p:cNvPr>
          <p:cNvSpPr txBox="1"/>
          <p:nvPr/>
        </p:nvSpPr>
        <p:spPr>
          <a:xfrm>
            <a:off x="517503" y="4739823"/>
            <a:ext cx="4711446" cy="954107"/>
          </a:xfrm>
          <a:prstGeom prst="rect">
            <a:avLst/>
          </a:prstGeom>
          <a:noFill/>
        </p:spPr>
        <p:txBody>
          <a:bodyPr wrap="square" rtlCol="0">
            <a:spAutoFit/>
          </a:bodyPr>
          <a:lstStyle/>
          <a:p>
            <a:r>
              <a:rPr lang="en-US" sz="1400" dirty="0"/>
              <a:t>Real-time inference refers to the ability of neural networks to analyze and respond to data instantly. This is crucial for applications like voice assistants, self-driving cars, and facial recognition, where fast and accurate predictions are needed.</a:t>
            </a:r>
          </a:p>
        </p:txBody>
      </p:sp>
      <p:sp>
        <p:nvSpPr>
          <p:cNvPr id="9" name="Title 1">
            <a:extLst>
              <a:ext uri="{FF2B5EF4-FFF2-40B4-BE49-F238E27FC236}">
                <a16:creationId xmlns:a16="http://schemas.microsoft.com/office/drawing/2014/main" id="{DC8FC9D7-6E25-C8CF-EFEF-0B98E67D8733}"/>
              </a:ext>
            </a:extLst>
          </p:cNvPr>
          <p:cNvSpPr txBox="1">
            <a:spLocks/>
          </p:cNvSpPr>
          <p:nvPr/>
        </p:nvSpPr>
        <p:spPr>
          <a:xfrm>
            <a:off x="6480472" y="4390746"/>
            <a:ext cx="4041422" cy="5030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t>4. Scalability:</a:t>
            </a:r>
            <a:endParaRPr lang="en-IN" sz="1600" b="1" dirty="0"/>
          </a:p>
        </p:txBody>
      </p:sp>
      <p:sp>
        <p:nvSpPr>
          <p:cNvPr id="14" name="TextBox 13">
            <a:extLst>
              <a:ext uri="{FF2B5EF4-FFF2-40B4-BE49-F238E27FC236}">
                <a16:creationId xmlns:a16="http://schemas.microsoft.com/office/drawing/2014/main" id="{4E1FE5E4-F66F-760E-853E-AE3475601A4B}"/>
              </a:ext>
            </a:extLst>
          </p:cNvPr>
          <p:cNvSpPr txBox="1"/>
          <p:nvPr/>
        </p:nvSpPr>
        <p:spPr>
          <a:xfrm>
            <a:off x="6471235" y="4810711"/>
            <a:ext cx="4599219" cy="1169551"/>
          </a:xfrm>
          <a:prstGeom prst="rect">
            <a:avLst/>
          </a:prstGeom>
          <a:noFill/>
        </p:spPr>
        <p:txBody>
          <a:bodyPr wrap="square" rtlCol="0">
            <a:spAutoFit/>
          </a:bodyPr>
          <a:lstStyle/>
          <a:p>
            <a:r>
              <a:rPr lang="en-US" sz="1400" dirty="0"/>
              <a:t>Scalability in neural networks means the ability to expand computing power by distributing workloads across multiple processors or cloud servers. This helps handle larger datasets, train bigger models, and improve performance without compromising speed.</a:t>
            </a:r>
          </a:p>
        </p:txBody>
      </p:sp>
      <p:sp>
        <p:nvSpPr>
          <p:cNvPr id="16" name="TextBox 15">
            <a:extLst>
              <a:ext uri="{FF2B5EF4-FFF2-40B4-BE49-F238E27FC236}">
                <a16:creationId xmlns:a16="http://schemas.microsoft.com/office/drawing/2014/main" id="{4549311E-0DC5-2EA8-25D5-84ECD353E0EC}"/>
              </a:ext>
            </a:extLst>
          </p:cNvPr>
          <p:cNvSpPr txBox="1"/>
          <p:nvPr/>
        </p:nvSpPr>
        <p:spPr>
          <a:xfrm>
            <a:off x="350981" y="281771"/>
            <a:ext cx="6096000" cy="369332"/>
          </a:xfrm>
          <a:prstGeom prst="rect">
            <a:avLst/>
          </a:prstGeom>
          <a:noFill/>
        </p:spPr>
        <p:txBody>
          <a:bodyPr wrap="square">
            <a:spAutoFit/>
          </a:bodyPr>
          <a:lstStyle/>
          <a:p>
            <a:r>
              <a:rPr lang="en-US" sz="1800" b="1" dirty="0"/>
              <a:t>What is processor </a:t>
            </a:r>
            <a:endParaRPr lang="en-US" dirty="0"/>
          </a:p>
        </p:txBody>
      </p:sp>
      <p:pic>
        <p:nvPicPr>
          <p:cNvPr id="17" name="Picture 16">
            <a:extLst>
              <a:ext uri="{FF2B5EF4-FFF2-40B4-BE49-F238E27FC236}">
                <a16:creationId xmlns:a16="http://schemas.microsoft.com/office/drawing/2014/main" id="{57081E88-E44E-D834-AFE4-96E73BC2B8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31055" y="254629"/>
            <a:ext cx="1136073" cy="354972"/>
          </a:xfrm>
          <a:prstGeom prst="rect">
            <a:avLst/>
          </a:prstGeom>
        </p:spPr>
      </p:pic>
      <p:pic>
        <p:nvPicPr>
          <p:cNvPr id="3" name="Picture 2">
            <a:extLst>
              <a:ext uri="{FF2B5EF4-FFF2-40B4-BE49-F238E27FC236}">
                <a16:creationId xmlns:a16="http://schemas.microsoft.com/office/drawing/2014/main" id="{89358650-B648-70BD-698F-DA4649844F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516" y="1056688"/>
            <a:ext cx="4525022" cy="3016681"/>
          </a:xfrm>
          <a:prstGeom prst="rect">
            <a:avLst/>
          </a:prstGeom>
        </p:spPr>
      </p:pic>
      <p:pic>
        <p:nvPicPr>
          <p:cNvPr id="6" name="Picture 5">
            <a:extLst>
              <a:ext uri="{FF2B5EF4-FFF2-40B4-BE49-F238E27FC236}">
                <a16:creationId xmlns:a16="http://schemas.microsoft.com/office/drawing/2014/main" id="{80617AD3-FE60-64ED-033A-96E8AFCB77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7878" y="1035974"/>
            <a:ext cx="4755842" cy="3029999"/>
          </a:xfrm>
          <a:prstGeom prst="rect">
            <a:avLst/>
          </a:prstGeom>
        </p:spPr>
      </p:pic>
    </p:spTree>
    <p:extLst>
      <p:ext uri="{BB962C8B-B14F-4D97-AF65-F5344CB8AC3E}">
        <p14:creationId xmlns:p14="http://schemas.microsoft.com/office/powerpoint/2010/main" val="3000602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0A547-F180-A1D9-08D0-46FE69FB6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D8FC8-98AA-E35A-8DEF-C877183729DE}"/>
              </a:ext>
            </a:extLst>
          </p:cNvPr>
          <p:cNvSpPr>
            <a:spLocks noGrp="1"/>
          </p:cNvSpPr>
          <p:nvPr>
            <p:ph type="title"/>
          </p:nvPr>
        </p:nvSpPr>
        <p:spPr>
          <a:xfrm>
            <a:off x="350261" y="124981"/>
            <a:ext cx="6835630" cy="595456"/>
          </a:xfrm>
        </p:spPr>
        <p:txBody>
          <a:bodyPr>
            <a:normAutofit/>
          </a:bodyPr>
          <a:lstStyle/>
          <a:p>
            <a:r>
              <a:rPr lang="en-US" sz="2400" b="1" dirty="0"/>
              <a:t>Type of processor </a:t>
            </a:r>
            <a:endParaRPr lang="en-IN" sz="2400" b="1" dirty="0"/>
          </a:p>
        </p:txBody>
      </p:sp>
      <p:sp>
        <p:nvSpPr>
          <p:cNvPr id="6" name="Title 1">
            <a:extLst>
              <a:ext uri="{FF2B5EF4-FFF2-40B4-BE49-F238E27FC236}">
                <a16:creationId xmlns:a16="http://schemas.microsoft.com/office/drawing/2014/main" id="{759411A4-6CDD-6C85-B9A8-57F3A887335A}"/>
              </a:ext>
            </a:extLst>
          </p:cNvPr>
          <p:cNvSpPr txBox="1">
            <a:spLocks/>
          </p:cNvSpPr>
          <p:nvPr/>
        </p:nvSpPr>
        <p:spPr>
          <a:xfrm>
            <a:off x="377970" y="739198"/>
            <a:ext cx="11343448" cy="5030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t>1. CPU (Central Processing Unit):</a:t>
            </a:r>
            <a:endParaRPr lang="en-IN" sz="1600" b="1" dirty="0"/>
          </a:p>
        </p:txBody>
      </p:sp>
      <p:sp>
        <p:nvSpPr>
          <p:cNvPr id="7" name="TextBox 6">
            <a:extLst>
              <a:ext uri="{FF2B5EF4-FFF2-40B4-BE49-F238E27FC236}">
                <a16:creationId xmlns:a16="http://schemas.microsoft.com/office/drawing/2014/main" id="{CF650B59-85D4-1049-BD21-82B4DFB13E10}"/>
              </a:ext>
            </a:extLst>
          </p:cNvPr>
          <p:cNvSpPr txBox="1"/>
          <p:nvPr/>
        </p:nvSpPr>
        <p:spPr>
          <a:xfrm>
            <a:off x="424872" y="1200727"/>
            <a:ext cx="8656984" cy="738664"/>
          </a:xfrm>
          <a:prstGeom prst="rect">
            <a:avLst/>
          </a:prstGeom>
          <a:noFill/>
        </p:spPr>
        <p:txBody>
          <a:bodyPr wrap="square" rtlCol="0">
            <a:spAutoFit/>
          </a:bodyPr>
          <a:lstStyle/>
          <a:p>
            <a:r>
              <a:rPr lang="en-US" sz="1400" dirty="0"/>
              <a:t>A </a:t>
            </a:r>
            <a:r>
              <a:rPr lang="en-US" sz="1400" b="1" dirty="0"/>
              <a:t>CPU (Central Processing Unit)</a:t>
            </a:r>
            <a:r>
              <a:rPr lang="en-US" sz="1400" dirty="0"/>
              <a:t> is the main processor of a computer that executes instructions and performs general-purpose tasks. It handles calculations, logic operations, and controls system processes. CPUs are optimized for sequential processing and are essential for running operating systems, applications, and general computing tasks.</a:t>
            </a:r>
          </a:p>
        </p:txBody>
      </p:sp>
      <p:sp>
        <p:nvSpPr>
          <p:cNvPr id="10" name="Title 1">
            <a:extLst>
              <a:ext uri="{FF2B5EF4-FFF2-40B4-BE49-F238E27FC236}">
                <a16:creationId xmlns:a16="http://schemas.microsoft.com/office/drawing/2014/main" id="{A5F02507-857C-EF4A-9E84-530AFB6229EB}"/>
              </a:ext>
            </a:extLst>
          </p:cNvPr>
          <p:cNvSpPr txBox="1">
            <a:spLocks/>
          </p:cNvSpPr>
          <p:nvPr/>
        </p:nvSpPr>
        <p:spPr>
          <a:xfrm>
            <a:off x="493423" y="5075671"/>
            <a:ext cx="4543496" cy="3276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t>Single-Core CPU:</a:t>
            </a:r>
            <a:endParaRPr lang="en-IN" sz="1600" b="1" dirty="0"/>
          </a:p>
        </p:txBody>
      </p:sp>
      <p:sp>
        <p:nvSpPr>
          <p:cNvPr id="11" name="TextBox 10">
            <a:extLst>
              <a:ext uri="{FF2B5EF4-FFF2-40B4-BE49-F238E27FC236}">
                <a16:creationId xmlns:a16="http://schemas.microsoft.com/office/drawing/2014/main" id="{46F22ED3-90E8-1CA9-56A7-A91BB739CE3A}"/>
              </a:ext>
            </a:extLst>
          </p:cNvPr>
          <p:cNvSpPr txBox="1"/>
          <p:nvPr/>
        </p:nvSpPr>
        <p:spPr>
          <a:xfrm>
            <a:off x="531087" y="5343235"/>
            <a:ext cx="5038439" cy="1169551"/>
          </a:xfrm>
          <a:prstGeom prst="rect">
            <a:avLst/>
          </a:prstGeom>
          <a:noFill/>
        </p:spPr>
        <p:txBody>
          <a:bodyPr wrap="square" rtlCol="0">
            <a:spAutoFit/>
          </a:bodyPr>
          <a:lstStyle/>
          <a:p>
            <a:r>
              <a:rPr lang="en-US" sz="1400" dirty="0"/>
              <a:t>A </a:t>
            </a:r>
            <a:r>
              <a:rPr lang="en-US" sz="1400" b="1" dirty="0"/>
              <a:t>single-core CPU</a:t>
            </a:r>
            <a:r>
              <a:rPr lang="en-US" sz="1400" dirty="0"/>
              <a:t> has only one processing unit, meaning it can execute one task at a time. It processes instructions sequentially, which can slow down performance when handling multiple applications. Older computers and basic devices often use single-core processors.</a:t>
            </a:r>
          </a:p>
        </p:txBody>
      </p:sp>
      <p:pic>
        <p:nvPicPr>
          <p:cNvPr id="13" name="Picture 12">
            <a:extLst>
              <a:ext uri="{FF2B5EF4-FFF2-40B4-BE49-F238E27FC236}">
                <a16:creationId xmlns:a16="http://schemas.microsoft.com/office/drawing/2014/main" id="{71A03611-0AA4-2BA1-BDF1-E46CD0A420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763" y="2460246"/>
            <a:ext cx="3285549" cy="2590235"/>
          </a:xfrm>
          <a:prstGeom prst="rect">
            <a:avLst/>
          </a:prstGeom>
        </p:spPr>
      </p:pic>
      <p:sp>
        <p:nvSpPr>
          <p:cNvPr id="14" name="Title 1">
            <a:extLst>
              <a:ext uri="{FF2B5EF4-FFF2-40B4-BE49-F238E27FC236}">
                <a16:creationId xmlns:a16="http://schemas.microsoft.com/office/drawing/2014/main" id="{664F67FE-7BD7-E86A-7A76-909959E21C79}"/>
              </a:ext>
            </a:extLst>
          </p:cNvPr>
          <p:cNvSpPr txBox="1">
            <a:spLocks/>
          </p:cNvSpPr>
          <p:nvPr/>
        </p:nvSpPr>
        <p:spPr>
          <a:xfrm>
            <a:off x="6437023" y="5043344"/>
            <a:ext cx="4543496" cy="3276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t>Multi-Core CPU:</a:t>
            </a:r>
            <a:endParaRPr lang="en-IN" sz="1600" b="1" dirty="0"/>
          </a:p>
        </p:txBody>
      </p:sp>
      <p:sp>
        <p:nvSpPr>
          <p:cNvPr id="15" name="TextBox 14">
            <a:extLst>
              <a:ext uri="{FF2B5EF4-FFF2-40B4-BE49-F238E27FC236}">
                <a16:creationId xmlns:a16="http://schemas.microsoft.com/office/drawing/2014/main" id="{A6DAD521-53A5-880A-FCA4-19C1E941D672}"/>
              </a:ext>
            </a:extLst>
          </p:cNvPr>
          <p:cNvSpPr txBox="1"/>
          <p:nvPr/>
        </p:nvSpPr>
        <p:spPr>
          <a:xfrm>
            <a:off x="6474688" y="5310908"/>
            <a:ext cx="5310912" cy="1169551"/>
          </a:xfrm>
          <a:prstGeom prst="rect">
            <a:avLst/>
          </a:prstGeom>
          <a:noFill/>
        </p:spPr>
        <p:txBody>
          <a:bodyPr wrap="square" rtlCol="0">
            <a:spAutoFit/>
          </a:bodyPr>
          <a:lstStyle/>
          <a:p>
            <a:r>
              <a:rPr lang="en-US" sz="1400" dirty="0"/>
              <a:t>A </a:t>
            </a:r>
            <a:r>
              <a:rPr lang="en-US" sz="1400" b="1" dirty="0"/>
              <a:t>multi-core CPU</a:t>
            </a:r>
            <a:r>
              <a:rPr lang="en-US" sz="1400" dirty="0"/>
              <a:t> has two or more processing units (cores) within a single chip. Each core can handle tasks independently or work together for better performance. This improves multitasking, speed, and efficiency, making multi-core CPUs ideal for gaming, video editing, and high-performance computing.</a:t>
            </a:r>
          </a:p>
        </p:txBody>
      </p:sp>
      <p:pic>
        <p:nvPicPr>
          <p:cNvPr id="17" name="Picture 16">
            <a:extLst>
              <a:ext uri="{FF2B5EF4-FFF2-40B4-BE49-F238E27FC236}">
                <a16:creationId xmlns:a16="http://schemas.microsoft.com/office/drawing/2014/main" id="{2E0CB14B-10A8-BB66-BF62-5756AA5B90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2607" y="2483326"/>
            <a:ext cx="4077280" cy="2555020"/>
          </a:xfrm>
          <a:prstGeom prst="rect">
            <a:avLst/>
          </a:prstGeom>
        </p:spPr>
      </p:pic>
      <p:pic>
        <p:nvPicPr>
          <p:cNvPr id="18" name="Picture 17">
            <a:extLst>
              <a:ext uri="{FF2B5EF4-FFF2-40B4-BE49-F238E27FC236}">
                <a16:creationId xmlns:a16="http://schemas.microsoft.com/office/drawing/2014/main" id="{28ABD821-D214-78EA-F7F8-0ED8356AAA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31055" y="254629"/>
            <a:ext cx="1136073" cy="354972"/>
          </a:xfrm>
          <a:prstGeom prst="rect">
            <a:avLst/>
          </a:prstGeom>
        </p:spPr>
      </p:pic>
      <p:pic>
        <p:nvPicPr>
          <p:cNvPr id="4" name="Picture 3">
            <a:extLst>
              <a:ext uri="{FF2B5EF4-FFF2-40B4-BE49-F238E27FC236}">
                <a16:creationId xmlns:a16="http://schemas.microsoft.com/office/drawing/2014/main" id="{7ED975E6-2443-5435-A7C8-8BD5753E8D7E}"/>
              </a:ext>
            </a:extLst>
          </p:cNvPr>
          <p:cNvPicPr>
            <a:picLocks noChangeAspect="1"/>
          </p:cNvPicPr>
          <p:nvPr/>
        </p:nvPicPr>
        <p:blipFill rotWithShape="1">
          <a:blip r:embed="rId5">
            <a:extLst>
              <a:ext uri="{28A0092B-C50C-407E-A947-70E740481C1C}">
                <a14:useLocalDpi xmlns:a14="http://schemas.microsoft.com/office/drawing/2010/main" val="0"/>
              </a:ext>
            </a:extLst>
          </a:blip>
          <a:srcRect b="46485"/>
          <a:stretch/>
        </p:blipFill>
        <p:spPr>
          <a:xfrm>
            <a:off x="9336628" y="992295"/>
            <a:ext cx="1295581" cy="1182734"/>
          </a:xfrm>
          <a:prstGeom prst="rect">
            <a:avLst/>
          </a:prstGeom>
        </p:spPr>
      </p:pic>
    </p:spTree>
    <p:extLst>
      <p:ext uri="{BB962C8B-B14F-4D97-AF65-F5344CB8AC3E}">
        <p14:creationId xmlns:p14="http://schemas.microsoft.com/office/powerpoint/2010/main" val="1043034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0A547-F180-A1D9-08D0-46FE69FB6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D8FC8-98AA-E35A-8DEF-C877183729DE}"/>
              </a:ext>
            </a:extLst>
          </p:cNvPr>
          <p:cNvSpPr>
            <a:spLocks noGrp="1"/>
          </p:cNvSpPr>
          <p:nvPr>
            <p:ph type="title"/>
          </p:nvPr>
        </p:nvSpPr>
        <p:spPr>
          <a:xfrm>
            <a:off x="350261" y="124981"/>
            <a:ext cx="6835630" cy="595456"/>
          </a:xfrm>
        </p:spPr>
        <p:txBody>
          <a:bodyPr>
            <a:normAutofit/>
          </a:bodyPr>
          <a:lstStyle/>
          <a:p>
            <a:r>
              <a:rPr lang="en-US" sz="2400" b="1" dirty="0"/>
              <a:t>Type of processor </a:t>
            </a:r>
            <a:endParaRPr lang="en-IN" sz="2400" b="1" dirty="0"/>
          </a:p>
        </p:txBody>
      </p:sp>
      <p:sp>
        <p:nvSpPr>
          <p:cNvPr id="8" name="Title 1">
            <a:extLst>
              <a:ext uri="{FF2B5EF4-FFF2-40B4-BE49-F238E27FC236}">
                <a16:creationId xmlns:a16="http://schemas.microsoft.com/office/drawing/2014/main" id="{B4C3763B-4903-1817-4A9C-4029A0DC823C}"/>
              </a:ext>
            </a:extLst>
          </p:cNvPr>
          <p:cNvSpPr txBox="1">
            <a:spLocks/>
          </p:cNvSpPr>
          <p:nvPr/>
        </p:nvSpPr>
        <p:spPr>
          <a:xfrm>
            <a:off x="410297" y="854652"/>
            <a:ext cx="6854103" cy="5030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t>2. GPU (Graphics Processing Unit):</a:t>
            </a:r>
            <a:endParaRPr lang="en-IN" sz="1600" b="1" dirty="0"/>
          </a:p>
        </p:txBody>
      </p:sp>
      <p:sp>
        <p:nvSpPr>
          <p:cNvPr id="9" name="TextBox 8">
            <a:extLst>
              <a:ext uri="{FF2B5EF4-FFF2-40B4-BE49-F238E27FC236}">
                <a16:creationId xmlns:a16="http://schemas.microsoft.com/office/drawing/2014/main" id="{6B8D0F83-D5B4-CDC6-DC61-78067443B919}"/>
              </a:ext>
            </a:extLst>
          </p:cNvPr>
          <p:cNvSpPr txBox="1"/>
          <p:nvPr/>
        </p:nvSpPr>
        <p:spPr>
          <a:xfrm>
            <a:off x="438726" y="1288472"/>
            <a:ext cx="8811806" cy="954107"/>
          </a:xfrm>
          <a:prstGeom prst="rect">
            <a:avLst/>
          </a:prstGeom>
          <a:noFill/>
        </p:spPr>
        <p:txBody>
          <a:bodyPr wrap="square" rtlCol="0">
            <a:spAutoFit/>
          </a:bodyPr>
          <a:lstStyle/>
          <a:p>
            <a:r>
              <a:rPr lang="en-US" sz="1400" dirty="0"/>
              <a:t>A </a:t>
            </a:r>
            <a:r>
              <a:rPr lang="en-US" sz="1400" b="1" dirty="0"/>
              <a:t>GPU (Graphics Processing Unit)</a:t>
            </a:r>
            <a:r>
              <a:rPr lang="en-US" sz="1400" dirty="0"/>
              <a:t> is a specialized processor designed for parallel computing, primarily used for rendering graphics and processing large amounts of data simultaneously. GPUs are highly efficient in handling tasks like deep learning, gaming, video editing, and scientific simulations due to their ability to perform multiple calculations at once.</a:t>
            </a:r>
          </a:p>
        </p:txBody>
      </p:sp>
      <p:pic>
        <p:nvPicPr>
          <p:cNvPr id="5" name="Picture 4">
            <a:extLst>
              <a:ext uri="{FF2B5EF4-FFF2-40B4-BE49-F238E27FC236}">
                <a16:creationId xmlns:a16="http://schemas.microsoft.com/office/drawing/2014/main" id="{C37B8DC6-BEE4-D04B-2C15-E4DA0647F1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31055" y="254629"/>
            <a:ext cx="1136073" cy="354972"/>
          </a:xfrm>
          <a:prstGeom prst="rect">
            <a:avLst/>
          </a:prstGeom>
        </p:spPr>
      </p:pic>
      <p:pic>
        <p:nvPicPr>
          <p:cNvPr id="6" name="Picture 5">
            <a:extLst>
              <a:ext uri="{FF2B5EF4-FFF2-40B4-BE49-F238E27FC236}">
                <a16:creationId xmlns:a16="http://schemas.microsoft.com/office/drawing/2014/main" id="{7A969FB0-9397-F761-8D0A-F7855AB263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6122" y="1197296"/>
            <a:ext cx="1324160" cy="1143160"/>
          </a:xfrm>
          <a:prstGeom prst="rect">
            <a:avLst/>
          </a:prstGeom>
        </p:spPr>
      </p:pic>
      <p:pic>
        <p:nvPicPr>
          <p:cNvPr id="10" name="Picture 9">
            <a:extLst>
              <a:ext uri="{FF2B5EF4-FFF2-40B4-BE49-F238E27FC236}">
                <a16:creationId xmlns:a16="http://schemas.microsoft.com/office/drawing/2014/main" id="{D4CBEC6C-7115-629A-50AA-A5DE2F19B4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4412" y="2862990"/>
            <a:ext cx="7332955" cy="3250180"/>
          </a:xfrm>
          <a:prstGeom prst="rect">
            <a:avLst/>
          </a:prstGeom>
        </p:spPr>
      </p:pic>
    </p:spTree>
    <p:extLst>
      <p:ext uri="{BB962C8B-B14F-4D97-AF65-F5344CB8AC3E}">
        <p14:creationId xmlns:p14="http://schemas.microsoft.com/office/powerpoint/2010/main" val="1836400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0A547-F180-A1D9-08D0-46FE69FB6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D8FC8-98AA-E35A-8DEF-C877183729DE}"/>
              </a:ext>
            </a:extLst>
          </p:cNvPr>
          <p:cNvSpPr>
            <a:spLocks noGrp="1"/>
          </p:cNvSpPr>
          <p:nvPr>
            <p:ph type="title"/>
          </p:nvPr>
        </p:nvSpPr>
        <p:spPr>
          <a:xfrm>
            <a:off x="350261" y="124981"/>
            <a:ext cx="6835630" cy="595456"/>
          </a:xfrm>
        </p:spPr>
        <p:txBody>
          <a:bodyPr>
            <a:normAutofit/>
          </a:bodyPr>
          <a:lstStyle/>
          <a:p>
            <a:r>
              <a:rPr lang="en-US" sz="2400" b="1" dirty="0"/>
              <a:t>Type of processor </a:t>
            </a:r>
            <a:endParaRPr lang="en-IN" sz="2400" b="1" dirty="0"/>
          </a:p>
        </p:txBody>
      </p:sp>
      <p:sp>
        <p:nvSpPr>
          <p:cNvPr id="8" name="Title 1">
            <a:extLst>
              <a:ext uri="{FF2B5EF4-FFF2-40B4-BE49-F238E27FC236}">
                <a16:creationId xmlns:a16="http://schemas.microsoft.com/office/drawing/2014/main" id="{B4C3763B-4903-1817-4A9C-4029A0DC823C}"/>
              </a:ext>
            </a:extLst>
          </p:cNvPr>
          <p:cNvSpPr txBox="1">
            <a:spLocks/>
          </p:cNvSpPr>
          <p:nvPr/>
        </p:nvSpPr>
        <p:spPr>
          <a:xfrm>
            <a:off x="410297" y="854652"/>
            <a:ext cx="6854103" cy="5030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t>3. Tensor Processing Unit (TPU):</a:t>
            </a:r>
            <a:endParaRPr lang="en-IN" sz="1600" b="1" dirty="0"/>
          </a:p>
        </p:txBody>
      </p:sp>
      <p:sp>
        <p:nvSpPr>
          <p:cNvPr id="9" name="TextBox 8">
            <a:extLst>
              <a:ext uri="{FF2B5EF4-FFF2-40B4-BE49-F238E27FC236}">
                <a16:creationId xmlns:a16="http://schemas.microsoft.com/office/drawing/2014/main" id="{6B8D0F83-D5B4-CDC6-DC61-78067443B919}"/>
              </a:ext>
            </a:extLst>
          </p:cNvPr>
          <p:cNvSpPr txBox="1"/>
          <p:nvPr/>
        </p:nvSpPr>
        <p:spPr>
          <a:xfrm>
            <a:off x="438726" y="1288472"/>
            <a:ext cx="8811806" cy="954107"/>
          </a:xfrm>
          <a:prstGeom prst="rect">
            <a:avLst/>
          </a:prstGeom>
          <a:noFill/>
        </p:spPr>
        <p:txBody>
          <a:bodyPr wrap="square" rtlCol="0">
            <a:spAutoFit/>
          </a:bodyPr>
          <a:lstStyle/>
          <a:p>
            <a:r>
              <a:rPr lang="en-US" sz="1400" dirty="0"/>
              <a:t>Role: </a:t>
            </a:r>
            <a:r>
              <a:rPr lang="en-US" sz="1400" b="1" dirty="0"/>
              <a:t>TPUs</a:t>
            </a:r>
            <a:r>
              <a:rPr lang="en-US" sz="1400" dirty="0"/>
              <a:t> are specialized processors designed to handle large-scale matrix operations, making them highly efficient for AI and machine learning tasks.</a:t>
            </a:r>
          </a:p>
          <a:p>
            <a:r>
              <a:rPr lang="en-US" sz="1400" dirty="0"/>
              <a:t>Example: Training a massive Hugging Face model on Google Cloud, where the TPU accelerates deep learning by recognizing patterns in text or images, significantly reducing training time compared to CPUs or GPUs.</a:t>
            </a:r>
          </a:p>
        </p:txBody>
      </p:sp>
      <p:pic>
        <p:nvPicPr>
          <p:cNvPr id="5" name="Picture 4">
            <a:extLst>
              <a:ext uri="{FF2B5EF4-FFF2-40B4-BE49-F238E27FC236}">
                <a16:creationId xmlns:a16="http://schemas.microsoft.com/office/drawing/2014/main" id="{C37B8DC6-BEE4-D04B-2C15-E4DA0647F1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31055" y="254629"/>
            <a:ext cx="1136073" cy="354972"/>
          </a:xfrm>
          <a:prstGeom prst="rect">
            <a:avLst/>
          </a:prstGeom>
        </p:spPr>
      </p:pic>
      <p:pic>
        <p:nvPicPr>
          <p:cNvPr id="11" name="Picture 10">
            <a:extLst>
              <a:ext uri="{FF2B5EF4-FFF2-40B4-BE49-F238E27FC236}">
                <a16:creationId xmlns:a16="http://schemas.microsoft.com/office/drawing/2014/main" id="{B3853657-0841-59E7-654D-057F85AD78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7375" y="2801275"/>
            <a:ext cx="6116667" cy="3581400"/>
          </a:xfrm>
          <a:prstGeom prst="rect">
            <a:avLst/>
          </a:prstGeom>
        </p:spPr>
      </p:pic>
      <p:pic>
        <p:nvPicPr>
          <p:cNvPr id="13" name="Picture 12">
            <a:extLst>
              <a:ext uri="{FF2B5EF4-FFF2-40B4-BE49-F238E27FC236}">
                <a16:creationId xmlns:a16="http://schemas.microsoft.com/office/drawing/2014/main" id="{EAA9714C-E0A9-A71F-D203-5FC0AA2955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56451" y="1136342"/>
            <a:ext cx="2621131" cy="1965848"/>
          </a:xfrm>
          <a:prstGeom prst="rect">
            <a:avLst/>
          </a:prstGeom>
        </p:spPr>
      </p:pic>
      <p:pic>
        <p:nvPicPr>
          <p:cNvPr id="15" name="Picture 14">
            <a:extLst>
              <a:ext uri="{FF2B5EF4-FFF2-40B4-BE49-F238E27FC236}">
                <a16:creationId xmlns:a16="http://schemas.microsoft.com/office/drawing/2014/main" id="{DBA79292-5FE7-281B-8443-6503D6A51E8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92576" y="1260628"/>
            <a:ext cx="604064" cy="233131"/>
          </a:xfrm>
          <a:prstGeom prst="rect">
            <a:avLst/>
          </a:prstGeom>
        </p:spPr>
      </p:pic>
    </p:spTree>
    <p:extLst>
      <p:ext uri="{BB962C8B-B14F-4D97-AF65-F5344CB8AC3E}">
        <p14:creationId xmlns:p14="http://schemas.microsoft.com/office/powerpoint/2010/main" val="1637050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0A547-F180-A1D9-08D0-46FE69FB6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D8FC8-98AA-E35A-8DEF-C877183729DE}"/>
              </a:ext>
            </a:extLst>
          </p:cNvPr>
          <p:cNvSpPr>
            <a:spLocks noGrp="1"/>
          </p:cNvSpPr>
          <p:nvPr>
            <p:ph type="title"/>
          </p:nvPr>
        </p:nvSpPr>
        <p:spPr>
          <a:xfrm>
            <a:off x="350261" y="124981"/>
            <a:ext cx="6835630" cy="595456"/>
          </a:xfrm>
        </p:spPr>
        <p:txBody>
          <a:bodyPr>
            <a:normAutofit/>
          </a:bodyPr>
          <a:lstStyle/>
          <a:p>
            <a:r>
              <a:rPr lang="en-US" sz="2400" b="1" dirty="0"/>
              <a:t>Type of processor </a:t>
            </a:r>
            <a:endParaRPr lang="en-IN" sz="2400" b="1" dirty="0"/>
          </a:p>
        </p:txBody>
      </p:sp>
      <p:sp>
        <p:nvSpPr>
          <p:cNvPr id="8" name="Title 1">
            <a:extLst>
              <a:ext uri="{FF2B5EF4-FFF2-40B4-BE49-F238E27FC236}">
                <a16:creationId xmlns:a16="http://schemas.microsoft.com/office/drawing/2014/main" id="{B4C3763B-4903-1817-4A9C-4029A0DC823C}"/>
              </a:ext>
            </a:extLst>
          </p:cNvPr>
          <p:cNvSpPr txBox="1">
            <a:spLocks/>
          </p:cNvSpPr>
          <p:nvPr/>
        </p:nvSpPr>
        <p:spPr>
          <a:xfrm>
            <a:off x="410297" y="854652"/>
            <a:ext cx="6854103" cy="5030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t>4. Data Processing Unit (DPU):</a:t>
            </a:r>
            <a:endParaRPr lang="en-IN" sz="1600" b="1" dirty="0"/>
          </a:p>
        </p:txBody>
      </p:sp>
      <p:sp>
        <p:nvSpPr>
          <p:cNvPr id="9" name="TextBox 8">
            <a:extLst>
              <a:ext uri="{FF2B5EF4-FFF2-40B4-BE49-F238E27FC236}">
                <a16:creationId xmlns:a16="http://schemas.microsoft.com/office/drawing/2014/main" id="{6B8D0F83-D5B4-CDC6-DC61-78067443B919}"/>
              </a:ext>
            </a:extLst>
          </p:cNvPr>
          <p:cNvSpPr txBox="1"/>
          <p:nvPr/>
        </p:nvSpPr>
        <p:spPr>
          <a:xfrm>
            <a:off x="438726" y="1288472"/>
            <a:ext cx="10702750" cy="954107"/>
          </a:xfrm>
          <a:prstGeom prst="rect">
            <a:avLst/>
          </a:prstGeom>
          <a:noFill/>
        </p:spPr>
        <p:txBody>
          <a:bodyPr wrap="square" rtlCol="0">
            <a:spAutoFit/>
          </a:bodyPr>
          <a:lstStyle/>
          <a:p>
            <a:r>
              <a:rPr lang="en-US" sz="1400" dirty="0"/>
              <a:t>Role: </a:t>
            </a:r>
            <a:r>
              <a:rPr lang="en-US" sz="1400" b="1" dirty="0"/>
              <a:t>DPUs</a:t>
            </a:r>
            <a:r>
              <a:rPr lang="en-US" sz="1400" dirty="0"/>
              <a:t> are optimized for managing and accelerating data movement between different computing components, ensuring efficient networking, security, and cloud-based operations.</a:t>
            </a:r>
          </a:p>
          <a:p>
            <a:r>
              <a:rPr lang="en-US" sz="1400" dirty="0"/>
              <a:t>Example: Moving large datasets between GPUs in a distributed training environment without slowing down the process, ensuring that AI models can access and process data efficiently in cloud-based machine learning workloads.</a:t>
            </a:r>
          </a:p>
        </p:txBody>
      </p:sp>
      <p:pic>
        <p:nvPicPr>
          <p:cNvPr id="5" name="Picture 4">
            <a:extLst>
              <a:ext uri="{FF2B5EF4-FFF2-40B4-BE49-F238E27FC236}">
                <a16:creationId xmlns:a16="http://schemas.microsoft.com/office/drawing/2014/main" id="{C37B8DC6-BEE4-D04B-2C15-E4DA0647F1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31055" y="254629"/>
            <a:ext cx="1136073" cy="354972"/>
          </a:xfrm>
          <a:prstGeom prst="rect">
            <a:avLst/>
          </a:prstGeom>
        </p:spPr>
      </p:pic>
      <p:pic>
        <p:nvPicPr>
          <p:cNvPr id="11" name="Picture 10">
            <a:extLst>
              <a:ext uri="{FF2B5EF4-FFF2-40B4-BE49-F238E27FC236}">
                <a16:creationId xmlns:a16="http://schemas.microsoft.com/office/drawing/2014/main" id="{FE404835-CD14-5E74-8A19-4B9C7585DC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8234" y="2803994"/>
            <a:ext cx="6792961" cy="3339353"/>
          </a:xfrm>
          <a:prstGeom prst="rect">
            <a:avLst/>
          </a:prstGeom>
        </p:spPr>
      </p:pic>
    </p:spTree>
    <p:extLst>
      <p:ext uri="{BB962C8B-B14F-4D97-AF65-F5344CB8AC3E}">
        <p14:creationId xmlns:p14="http://schemas.microsoft.com/office/powerpoint/2010/main" val="178766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0A547-F180-A1D9-08D0-46FE69FB6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D8FC8-98AA-E35A-8DEF-C877183729DE}"/>
              </a:ext>
            </a:extLst>
          </p:cNvPr>
          <p:cNvSpPr>
            <a:spLocks noGrp="1"/>
          </p:cNvSpPr>
          <p:nvPr>
            <p:ph type="title"/>
          </p:nvPr>
        </p:nvSpPr>
        <p:spPr>
          <a:xfrm>
            <a:off x="350261" y="124981"/>
            <a:ext cx="6835630" cy="595456"/>
          </a:xfrm>
        </p:spPr>
        <p:txBody>
          <a:bodyPr>
            <a:normAutofit/>
          </a:bodyPr>
          <a:lstStyle/>
          <a:p>
            <a:r>
              <a:rPr lang="en-US" sz="2400" b="1" dirty="0"/>
              <a:t>Core Differences</a:t>
            </a:r>
            <a:endParaRPr lang="en-IN" sz="2400" b="1" dirty="0"/>
          </a:p>
        </p:txBody>
      </p:sp>
      <p:pic>
        <p:nvPicPr>
          <p:cNvPr id="5" name="Picture 4">
            <a:extLst>
              <a:ext uri="{FF2B5EF4-FFF2-40B4-BE49-F238E27FC236}">
                <a16:creationId xmlns:a16="http://schemas.microsoft.com/office/drawing/2014/main" id="{7AC5BAEC-8276-B82B-B5D9-310F0AE23C01}"/>
              </a:ext>
            </a:extLst>
          </p:cNvPr>
          <p:cNvPicPr>
            <a:picLocks noChangeAspect="1"/>
          </p:cNvPicPr>
          <p:nvPr/>
        </p:nvPicPr>
        <p:blipFill rotWithShape="1">
          <a:blip r:embed="rId2">
            <a:extLst>
              <a:ext uri="{28A0092B-C50C-407E-A947-70E740481C1C}">
                <a14:useLocalDpi xmlns:a14="http://schemas.microsoft.com/office/drawing/2010/main" val="0"/>
              </a:ext>
            </a:extLst>
          </a:blip>
          <a:srcRect l="2198" t="12326" r="1438" b="2810"/>
          <a:stretch/>
        </p:blipFill>
        <p:spPr>
          <a:xfrm>
            <a:off x="356341" y="877455"/>
            <a:ext cx="11567804" cy="5440219"/>
          </a:xfrm>
          <a:prstGeom prst="rect">
            <a:avLst/>
          </a:prstGeom>
        </p:spPr>
      </p:pic>
      <p:pic>
        <p:nvPicPr>
          <p:cNvPr id="6" name="Picture 5">
            <a:extLst>
              <a:ext uri="{FF2B5EF4-FFF2-40B4-BE49-F238E27FC236}">
                <a16:creationId xmlns:a16="http://schemas.microsoft.com/office/drawing/2014/main" id="{88B60EB3-07B2-D833-E6C1-1A793ED5A4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1055" y="254629"/>
            <a:ext cx="1136073" cy="354972"/>
          </a:xfrm>
          <a:prstGeom prst="rect">
            <a:avLst/>
          </a:prstGeom>
        </p:spPr>
      </p:pic>
    </p:spTree>
    <p:extLst>
      <p:ext uri="{BB962C8B-B14F-4D97-AF65-F5344CB8AC3E}">
        <p14:creationId xmlns:p14="http://schemas.microsoft.com/office/powerpoint/2010/main" val="3432328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4F76B-074A-36B3-1BAD-3B8999F3A5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053B97-3956-EBF6-DF21-D10B3987D7E7}"/>
              </a:ext>
            </a:extLst>
          </p:cNvPr>
          <p:cNvSpPr>
            <a:spLocks noGrp="1"/>
          </p:cNvSpPr>
          <p:nvPr>
            <p:ph type="title"/>
          </p:nvPr>
        </p:nvSpPr>
        <p:spPr>
          <a:xfrm>
            <a:off x="341025" y="226579"/>
            <a:ext cx="7435994" cy="438439"/>
          </a:xfrm>
        </p:spPr>
        <p:txBody>
          <a:bodyPr>
            <a:normAutofit/>
          </a:bodyPr>
          <a:lstStyle/>
          <a:p>
            <a:r>
              <a:rPr lang="en-US" sz="2400" b="1" dirty="0"/>
              <a:t>CPU and GPU  company's </a:t>
            </a:r>
            <a:endParaRPr lang="en-IN" sz="2400" b="1" dirty="0"/>
          </a:p>
        </p:txBody>
      </p:sp>
      <p:graphicFrame>
        <p:nvGraphicFramePr>
          <p:cNvPr id="7" name="Table 6">
            <a:extLst>
              <a:ext uri="{FF2B5EF4-FFF2-40B4-BE49-F238E27FC236}">
                <a16:creationId xmlns:a16="http://schemas.microsoft.com/office/drawing/2014/main" id="{B24378A3-C167-AE6E-162E-23B9F9827000}"/>
              </a:ext>
            </a:extLst>
          </p:cNvPr>
          <p:cNvGraphicFramePr>
            <a:graphicFrameLocks noGrp="1"/>
          </p:cNvGraphicFramePr>
          <p:nvPr>
            <p:extLst>
              <p:ext uri="{D42A27DB-BD31-4B8C-83A1-F6EECF244321}">
                <p14:modId xmlns:p14="http://schemas.microsoft.com/office/powerpoint/2010/main" val="4195399954"/>
              </p:ext>
            </p:extLst>
          </p:nvPr>
        </p:nvGraphicFramePr>
        <p:xfrm>
          <a:off x="535709" y="750145"/>
          <a:ext cx="10815780" cy="4736178"/>
        </p:xfrm>
        <a:graphic>
          <a:graphicData uri="http://schemas.openxmlformats.org/drawingml/2006/table">
            <a:tbl>
              <a:tblPr firstRow="1" firstCol="1" bandRow="1" bandCol="1">
                <a:tableStyleId>{5A111915-BE36-4E01-A7E5-04B1672EAD32}</a:tableStyleId>
              </a:tblPr>
              <a:tblGrid>
                <a:gridCol w="2163156">
                  <a:extLst>
                    <a:ext uri="{9D8B030D-6E8A-4147-A177-3AD203B41FA5}">
                      <a16:colId xmlns:a16="http://schemas.microsoft.com/office/drawing/2014/main" val="2393361259"/>
                    </a:ext>
                  </a:extLst>
                </a:gridCol>
                <a:gridCol w="2163156">
                  <a:extLst>
                    <a:ext uri="{9D8B030D-6E8A-4147-A177-3AD203B41FA5}">
                      <a16:colId xmlns:a16="http://schemas.microsoft.com/office/drawing/2014/main" val="282015626"/>
                    </a:ext>
                  </a:extLst>
                </a:gridCol>
                <a:gridCol w="2163156">
                  <a:extLst>
                    <a:ext uri="{9D8B030D-6E8A-4147-A177-3AD203B41FA5}">
                      <a16:colId xmlns:a16="http://schemas.microsoft.com/office/drawing/2014/main" val="641914107"/>
                    </a:ext>
                  </a:extLst>
                </a:gridCol>
                <a:gridCol w="2163156">
                  <a:extLst>
                    <a:ext uri="{9D8B030D-6E8A-4147-A177-3AD203B41FA5}">
                      <a16:colId xmlns:a16="http://schemas.microsoft.com/office/drawing/2014/main" val="1066830262"/>
                    </a:ext>
                  </a:extLst>
                </a:gridCol>
                <a:gridCol w="2163156">
                  <a:extLst>
                    <a:ext uri="{9D8B030D-6E8A-4147-A177-3AD203B41FA5}">
                      <a16:colId xmlns:a16="http://schemas.microsoft.com/office/drawing/2014/main" val="3791977150"/>
                    </a:ext>
                  </a:extLst>
                </a:gridCol>
              </a:tblGrid>
              <a:tr h="542946">
                <a:tc>
                  <a:txBody>
                    <a:bodyPr/>
                    <a:lstStyle/>
                    <a:p>
                      <a:pPr algn="ctr"/>
                      <a:r>
                        <a:rPr lang="en-US" dirty="0"/>
                        <a:t>Feature</a:t>
                      </a:r>
                    </a:p>
                  </a:txBody>
                  <a:tcPr anchor="ctr">
                    <a:solidFill>
                      <a:schemeClr val="tx1">
                        <a:lumMod val="85000"/>
                        <a:lumOff val="15000"/>
                      </a:schemeClr>
                    </a:solidFill>
                  </a:tcPr>
                </a:tc>
                <a:tc>
                  <a:txBody>
                    <a:bodyPr/>
                    <a:lstStyle/>
                    <a:p>
                      <a:pPr algn="ctr"/>
                      <a:r>
                        <a:rPr lang="en-US" dirty="0"/>
                        <a:t>Intel (CPU)</a:t>
                      </a:r>
                    </a:p>
                  </a:txBody>
                  <a:tcPr anchor="ctr">
                    <a:solidFill>
                      <a:schemeClr val="tx1">
                        <a:lumMod val="85000"/>
                        <a:lumOff val="15000"/>
                      </a:schemeClr>
                    </a:solidFill>
                  </a:tcPr>
                </a:tc>
                <a:tc>
                  <a:txBody>
                    <a:bodyPr/>
                    <a:lstStyle/>
                    <a:p>
                      <a:pPr algn="ctr"/>
                      <a:r>
                        <a:rPr lang="en-US" dirty="0"/>
                        <a:t>AMD (CPU &amp; GPU)</a:t>
                      </a:r>
                    </a:p>
                  </a:txBody>
                  <a:tcPr anchor="ctr">
                    <a:solidFill>
                      <a:schemeClr val="tx1">
                        <a:lumMod val="85000"/>
                        <a:lumOff val="15000"/>
                      </a:schemeClr>
                    </a:solidFill>
                  </a:tcPr>
                </a:tc>
                <a:tc>
                  <a:txBody>
                    <a:bodyPr/>
                    <a:lstStyle/>
                    <a:p>
                      <a:pPr algn="ctr"/>
                      <a:r>
                        <a:rPr lang="en-US" dirty="0"/>
                        <a:t>Nvidia (GPU)</a:t>
                      </a:r>
                    </a:p>
                  </a:txBody>
                  <a:tcPr anchor="ctr">
                    <a:solidFill>
                      <a:schemeClr val="tx1">
                        <a:lumMod val="85000"/>
                        <a:lumOff val="15000"/>
                      </a:schemeClr>
                    </a:solidFill>
                  </a:tcPr>
                </a:tc>
                <a:tc>
                  <a:txBody>
                    <a:bodyPr/>
                    <a:lstStyle/>
                    <a:p>
                      <a:pPr algn="ctr"/>
                      <a:r>
                        <a:rPr lang="en-US" dirty="0"/>
                        <a:t>Apple (CPU - ARM)</a:t>
                      </a:r>
                    </a:p>
                  </a:txBody>
                  <a:tcPr anchor="ctr">
                    <a:solidFill>
                      <a:schemeClr val="tx1">
                        <a:lumMod val="85000"/>
                        <a:lumOff val="15000"/>
                      </a:schemeClr>
                    </a:solidFill>
                  </a:tcPr>
                </a:tc>
                <a:extLst>
                  <a:ext uri="{0D108BD9-81ED-4DB2-BD59-A6C34878D82A}">
                    <a16:rowId xmlns:a16="http://schemas.microsoft.com/office/drawing/2014/main" val="1824654920"/>
                  </a:ext>
                </a:extLst>
              </a:tr>
              <a:tr h="767824">
                <a:tc>
                  <a:txBody>
                    <a:bodyPr/>
                    <a:lstStyle/>
                    <a:p>
                      <a:r>
                        <a:rPr lang="en-US" sz="1600" dirty="0"/>
                        <a:t>Market Leadership</a:t>
                      </a:r>
                    </a:p>
                  </a:txBody>
                  <a:tcPr/>
                </a:tc>
                <a:tc>
                  <a:txBody>
                    <a:bodyPr/>
                    <a:lstStyle/>
                    <a:p>
                      <a:r>
                        <a:rPr lang="en-US" sz="1400" dirty="0"/>
                        <a:t>Leader in CPU market for decades.</a:t>
                      </a:r>
                    </a:p>
                  </a:txBody>
                  <a:tcPr/>
                </a:tc>
                <a:tc>
                  <a:txBody>
                    <a:bodyPr/>
                    <a:lstStyle/>
                    <a:p>
                      <a:r>
                        <a:rPr lang="en-US" sz="1400" dirty="0"/>
                        <a:t>Strong competitor in CPUs and second in GPUs.</a:t>
                      </a:r>
                    </a:p>
                  </a:txBody>
                  <a:tcPr/>
                </a:tc>
                <a:tc>
                  <a:txBody>
                    <a:bodyPr/>
                    <a:lstStyle/>
                    <a:p>
                      <a:r>
                        <a:rPr lang="en-US" sz="1400" dirty="0"/>
                        <a:t>Dominates GPU market, especially in AI.</a:t>
                      </a:r>
                    </a:p>
                  </a:txBody>
                  <a:tcPr/>
                </a:tc>
                <a:tc>
                  <a:txBody>
                    <a:bodyPr/>
                    <a:lstStyle/>
                    <a:p>
                      <a:r>
                        <a:rPr lang="en-US" sz="1400" dirty="0"/>
                        <a:t>Gaining dominance in ARM-based computing with M1/M2 chips.</a:t>
                      </a:r>
                    </a:p>
                  </a:txBody>
                  <a:tcPr/>
                </a:tc>
                <a:extLst>
                  <a:ext uri="{0D108BD9-81ED-4DB2-BD59-A6C34878D82A}">
                    <a16:rowId xmlns:a16="http://schemas.microsoft.com/office/drawing/2014/main" val="1544200596"/>
                  </a:ext>
                </a:extLst>
              </a:tr>
              <a:tr h="767824">
                <a:tc>
                  <a:txBody>
                    <a:bodyPr/>
                    <a:lstStyle/>
                    <a:p>
                      <a:r>
                        <a:rPr lang="en-US" sz="1600" dirty="0"/>
                        <a:t>Product Types</a:t>
                      </a:r>
                    </a:p>
                  </a:txBody>
                  <a:tcPr/>
                </a:tc>
                <a:tc>
                  <a:txBody>
                    <a:bodyPr/>
                    <a:lstStyle/>
                    <a:p>
                      <a:r>
                        <a:rPr lang="en-US" sz="1400" dirty="0"/>
                        <a:t>CPUs for desktops, laptops, and servers.</a:t>
                      </a:r>
                    </a:p>
                  </a:txBody>
                  <a:tcPr/>
                </a:tc>
                <a:tc>
                  <a:txBody>
                    <a:bodyPr/>
                    <a:lstStyle/>
                    <a:p>
                      <a:r>
                        <a:rPr lang="en-US" sz="1400" dirty="0"/>
                        <a:t>CPUs, GPUs for gaming, and AI.</a:t>
                      </a:r>
                    </a:p>
                  </a:txBody>
                  <a:tcPr/>
                </a:tc>
                <a:tc>
                  <a:txBody>
                    <a:bodyPr/>
                    <a:lstStyle/>
                    <a:p>
                      <a:r>
                        <a:rPr lang="en-US" sz="1400" dirty="0"/>
                        <a:t>GPUs for gaming, AI, and data centers.</a:t>
                      </a:r>
                    </a:p>
                  </a:txBody>
                  <a:tcPr/>
                </a:tc>
                <a:tc>
                  <a:txBody>
                    <a:bodyPr/>
                    <a:lstStyle/>
                    <a:p>
                      <a:r>
                        <a:rPr lang="en-US" sz="1400" dirty="0"/>
                        <a:t>ARM-based CPUs for MacBooks, iPads, and custom hardware.</a:t>
                      </a:r>
                    </a:p>
                  </a:txBody>
                  <a:tcPr/>
                </a:tc>
                <a:extLst>
                  <a:ext uri="{0D108BD9-81ED-4DB2-BD59-A6C34878D82A}">
                    <a16:rowId xmlns:a16="http://schemas.microsoft.com/office/drawing/2014/main" val="3576430916"/>
                  </a:ext>
                </a:extLst>
              </a:tr>
              <a:tr h="767824">
                <a:tc>
                  <a:txBody>
                    <a:bodyPr/>
                    <a:lstStyle/>
                    <a:p>
                      <a:r>
                        <a:rPr lang="en-US" sz="1600" dirty="0"/>
                        <a:t>Popular Products</a:t>
                      </a:r>
                    </a:p>
                  </a:txBody>
                  <a:tcPr/>
                </a:tc>
                <a:tc>
                  <a:txBody>
                    <a:bodyPr/>
                    <a:lstStyle/>
                    <a:p>
                      <a:r>
                        <a:rPr lang="en-US" sz="1400" dirty="0"/>
                        <a:t>Intel Core i3/i5/i7/i9, Xeon.</a:t>
                      </a:r>
                    </a:p>
                  </a:txBody>
                  <a:tcPr/>
                </a:tc>
                <a:tc>
                  <a:txBody>
                    <a:bodyPr/>
                    <a:lstStyle/>
                    <a:p>
                      <a:r>
                        <a:rPr lang="en-US" sz="1400" dirty="0"/>
                        <a:t>Ryzen (CPU), Radeon RX (GPU).</a:t>
                      </a:r>
                    </a:p>
                  </a:txBody>
                  <a:tcPr/>
                </a:tc>
                <a:tc>
                  <a:txBody>
                    <a:bodyPr/>
                    <a:lstStyle/>
                    <a:p>
                      <a:r>
                        <a:rPr lang="en-US" sz="1400" dirty="0"/>
                        <a:t>GeForce RTX (gaming), Tesla/A100/H100 (AI).</a:t>
                      </a:r>
                    </a:p>
                  </a:txBody>
                  <a:tcPr/>
                </a:tc>
                <a:tc>
                  <a:txBody>
                    <a:bodyPr/>
                    <a:lstStyle/>
                    <a:p>
                      <a:r>
                        <a:rPr lang="en-US" sz="1400" dirty="0"/>
                        <a:t>M1, M2, M3 chips for Mac, iPad, and other Apple devices.</a:t>
                      </a:r>
                    </a:p>
                  </a:txBody>
                  <a:tcPr/>
                </a:tc>
                <a:extLst>
                  <a:ext uri="{0D108BD9-81ED-4DB2-BD59-A6C34878D82A}">
                    <a16:rowId xmlns:a16="http://schemas.microsoft.com/office/drawing/2014/main" val="4181009275"/>
                  </a:ext>
                </a:extLst>
              </a:tr>
              <a:tr h="767824">
                <a:tc>
                  <a:txBody>
                    <a:bodyPr/>
                    <a:lstStyle/>
                    <a:p>
                      <a:r>
                        <a:rPr lang="en-US" sz="1600" dirty="0"/>
                        <a:t>Performance</a:t>
                      </a:r>
                    </a:p>
                  </a:txBody>
                  <a:tcPr/>
                </a:tc>
                <a:tc>
                  <a:txBody>
                    <a:bodyPr/>
                    <a:lstStyle/>
                    <a:p>
                      <a:r>
                        <a:rPr lang="en-US" sz="1400" dirty="0"/>
                        <a:t>Best single-core performance.</a:t>
                      </a:r>
                    </a:p>
                  </a:txBody>
                  <a:tcPr/>
                </a:tc>
                <a:tc>
                  <a:txBody>
                    <a:bodyPr/>
                    <a:lstStyle/>
                    <a:p>
                      <a:r>
                        <a:rPr lang="it-IT" sz="1400" dirty="0"/>
                        <a:t>Best multi-core performance (CPUs). Decent AI GPUs.</a:t>
                      </a:r>
                      <a:endParaRPr lang="en-US" sz="1400" dirty="0"/>
                    </a:p>
                  </a:txBody>
                  <a:tcPr/>
                </a:tc>
                <a:tc>
                  <a:txBody>
                    <a:bodyPr/>
                    <a:lstStyle/>
                    <a:p>
                      <a:r>
                        <a:rPr lang="en-US" sz="1400" dirty="0"/>
                        <a:t>Best GPU performance for gaming, AI, and ML.</a:t>
                      </a:r>
                    </a:p>
                  </a:txBody>
                  <a:tcPr/>
                </a:tc>
                <a:tc>
                  <a:txBody>
                    <a:bodyPr/>
                    <a:lstStyle/>
                    <a:p>
                      <a:r>
                        <a:rPr lang="en-US" sz="1400" dirty="0"/>
                        <a:t>High efficiency, excellent performance per watt, optimized for Apple’s ecosystem.</a:t>
                      </a:r>
                    </a:p>
                  </a:txBody>
                  <a:tcPr/>
                </a:tc>
                <a:extLst>
                  <a:ext uri="{0D108BD9-81ED-4DB2-BD59-A6C34878D82A}">
                    <a16:rowId xmlns:a16="http://schemas.microsoft.com/office/drawing/2014/main" val="1585581153"/>
                  </a:ext>
                </a:extLst>
              </a:tr>
              <a:tr h="767824">
                <a:tc>
                  <a:txBody>
                    <a:bodyPr/>
                    <a:lstStyle/>
                    <a:p>
                      <a:r>
                        <a:rPr lang="en-US" sz="1600" dirty="0"/>
                        <a:t>AI &amp; Machine Learning</a:t>
                      </a:r>
                    </a:p>
                  </a:txBody>
                  <a:tcPr/>
                </a:tc>
                <a:tc>
                  <a:txBody>
                    <a:bodyPr/>
                    <a:lstStyle/>
                    <a:p>
                      <a:r>
                        <a:rPr lang="en-US" sz="1400" dirty="0"/>
                        <a:t>Limited AI capability in CPUs.</a:t>
                      </a:r>
                    </a:p>
                  </a:txBody>
                  <a:tcPr/>
                </a:tc>
                <a:tc>
                  <a:txBody>
                    <a:bodyPr/>
                    <a:lstStyle/>
                    <a:p>
                      <a:r>
                        <a:rPr lang="en-US" sz="1400" dirty="0"/>
                        <a:t>Good, but not leading in GPUs for AI.</a:t>
                      </a:r>
                    </a:p>
                  </a:txBody>
                  <a:tcPr/>
                </a:tc>
                <a:tc>
                  <a:txBody>
                    <a:bodyPr/>
                    <a:lstStyle/>
                    <a:p>
                      <a:r>
                        <a:rPr lang="en-US" sz="1400" dirty="0"/>
                        <a:t>Best GPUs for AI training and inference.</a:t>
                      </a:r>
                    </a:p>
                  </a:txBody>
                  <a:tcPr/>
                </a:tc>
                <a:tc>
                  <a:txBody>
                    <a:bodyPr/>
                    <a:lstStyle/>
                    <a:p>
                      <a:r>
                        <a:rPr lang="en-US" sz="1400" dirty="0"/>
                        <a:t>Strong AI performance with Neural Engine, optimized for on-device machine learning.</a:t>
                      </a:r>
                    </a:p>
                  </a:txBody>
                  <a:tcPr/>
                </a:tc>
                <a:extLst>
                  <a:ext uri="{0D108BD9-81ED-4DB2-BD59-A6C34878D82A}">
                    <a16:rowId xmlns:a16="http://schemas.microsoft.com/office/drawing/2014/main" val="4245936332"/>
                  </a:ext>
                </a:extLst>
              </a:tr>
            </a:tbl>
          </a:graphicData>
        </a:graphic>
      </p:graphicFrame>
      <p:pic>
        <p:nvPicPr>
          <p:cNvPr id="8" name="Picture 7">
            <a:extLst>
              <a:ext uri="{FF2B5EF4-FFF2-40B4-BE49-F238E27FC236}">
                <a16:creationId xmlns:a16="http://schemas.microsoft.com/office/drawing/2014/main" id="{45C57E48-6616-B23C-C784-AE3CBC9588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31055" y="254629"/>
            <a:ext cx="1136073" cy="354972"/>
          </a:xfrm>
          <a:prstGeom prst="rect">
            <a:avLst/>
          </a:prstGeom>
        </p:spPr>
      </p:pic>
    </p:spTree>
    <p:extLst>
      <p:ext uri="{BB962C8B-B14F-4D97-AF65-F5344CB8AC3E}">
        <p14:creationId xmlns:p14="http://schemas.microsoft.com/office/powerpoint/2010/main" val="2471442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11693-5F53-6648-839C-64389D94F27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C1B59A6-B430-E6BE-F20C-C2E56BFEDA21}"/>
              </a:ext>
            </a:extLst>
          </p:cNvPr>
          <p:cNvSpPr>
            <a:spLocks noGrp="1"/>
          </p:cNvSpPr>
          <p:nvPr>
            <p:ph type="title"/>
          </p:nvPr>
        </p:nvSpPr>
        <p:spPr>
          <a:xfrm>
            <a:off x="350261" y="124981"/>
            <a:ext cx="6835630" cy="595456"/>
          </a:xfrm>
        </p:spPr>
        <p:txBody>
          <a:bodyPr>
            <a:normAutofit/>
          </a:bodyPr>
          <a:lstStyle/>
          <a:p>
            <a:r>
              <a:rPr lang="en-US" sz="2400" b="1" dirty="0"/>
              <a:t>What is Docker</a:t>
            </a:r>
            <a:endParaRPr lang="en-IN" sz="2400" b="1" dirty="0"/>
          </a:p>
        </p:txBody>
      </p:sp>
      <p:sp>
        <p:nvSpPr>
          <p:cNvPr id="5" name="TextBox 4">
            <a:extLst>
              <a:ext uri="{FF2B5EF4-FFF2-40B4-BE49-F238E27FC236}">
                <a16:creationId xmlns:a16="http://schemas.microsoft.com/office/drawing/2014/main" id="{6E209C97-FAF1-646A-BFEC-9572FF91FB16}"/>
              </a:ext>
            </a:extLst>
          </p:cNvPr>
          <p:cNvSpPr txBox="1"/>
          <p:nvPr/>
        </p:nvSpPr>
        <p:spPr>
          <a:xfrm>
            <a:off x="447603" y="862343"/>
            <a:ext cx="10454176" cy="738664"/>
          </a:xfrm>
          <a:prstGeom prst="rect">
            <a:avLst/>
          </a:prstGeom>
          <a:noFill/>
        </p:spPr>
        <p:txBody>
          <a:bodyPr wrap="square" rtlCol="0">
            <a:spAutoFit/>
          </a:bodyPr>
          <a:lstStyle/>
          <a:p>
            <a:r>
              <a:rPr lang="en-US" sz="1400" dirty="0"/>
              <a:t>Docker is an </a:t>
            </a:r>
            <a:r>
              <a:rPr lang="en-US" sz="1400" b="1" dirty="0"/>
              <a:t>open-source platform</a:t>
            </a:r>
            <a:r>
              <a:rPr lang="en-US" sz="1400" dirty="0"/>
              <a:t> that allows developers to </a:t>
            </a:r>
            <a:r>
              <a:rPr lang="en-US" sz="1400" b="1" dirty="0"/>
              <a:t>build, package, and run applications in isolated environments called containers</a:t>
            </a:r>
            <a:r>
              <a:rPr lang="en-US" sz="1400" dirty="0"/>
              <a:t>. Containers ensure that an application runs </a:t>
            </a:r>
            <a:r>
              <a:rPr lang="en-US" sz="1400" b="1" dirty="0"/>
              <a:t>consistently across different computing environments</a:t>
            </a:r>
            <a:r>
              <a:rPr lang="en-US" sz="1400" dirty="0"/>
              <a:t> by bundling the code, dependencies, and system libraries together.</a:t>
            </a:r>
          </a:p>
        </p:txBody>
      </p:sp>
      <p:pic>
        <p:nvPicPr>
          <p:cNvPr id="7" name="Picture 6">
            <a:extLst>
              <a:ext uri="{FF2B5EF4-FFF2-40B4-BE49-F238E27FC236}">
                <a16:creationId xmlns:a16="http://schemas.microsoft.com/office/drawing/2014/main" id="{7039B2C2-58EA-05C9-253D-07CCA8FF72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31055" y="254629"/>
            <a:ext cx="1136073" cy="354972"/>
          </a:xfrm>
          <a:prstGeom prst="rect">
            <a:avLst/>
          </a:prstGeom>
        </p:spPr>
      </p:pic>
      <p:pic>
        <p:nvPicPr>
          <p:cNvPr id="9" name="Picture 8">
            <a:extLst>
              <a:ext uri="{FF2B5EF4-FFF2-40B4-BE49-F238E27FC236}">
                <a16:creationId xmlns:a16="http://schemas.microsoft.com/office/drawing/2014/main" id="{BC21FB0C-B8CF-CCCC-E45D-33F50429E2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2175" y="2032986"/>
            <a:ext cx="2432019" cy="2432019"/>
          </a:xfrm>
          <a:prstGeom prst="rect">
            <a:avLst/>
          </a:prstGeom>
        </p:spPr>
      </p:pic>
      <p:sp>
        <p:nvSpPr>
          <p:cNvPr id="10" name="TextBox 9">
            <a:extLst>
              <a:ext uri="{FF2B5EF4-FFF2-40B4-BE49-F238E27FC236}">
                <a16:creationId xmlns:a16="http://schemas.microsoft.com/office/drawing/2014/main" id="{EF1FB58D-5B00-85F9-7E0A-DE1B277C1D24}"/>
              </a:ext>
            </a:extLst>
          </p:cNvPr>
          <p:cNvSpPr txBox="1"/>
          <p:nvPr/>
        </p:nvSpPr>
        <p:spPr>
          <a:xfrm>
            <a:off x="449082" y="5018572"/>
            <a:ext cx="10932091" cy="1600438"/>
          </a:xfrm>
          <a:prstGeom prst="rect">
            <a:avLst/>
          </a:prstGeom>
          <a:noFill/>
        </p:spPr>
        <p:txBody>
          <a:bodyPr wrap="square" rtlCol="0">
            <a:spAutoFit/>
          </a:bodyPr>
          <a:lstStyle/>
          <a:p>
            <a:r>
              <a:rPr lang="en-US" sz="1400" dirty="0"/>
              <a:t>With Docker, developers can:</a:t>
            </a:r>
          </a:p>
          <a:p>
            <a:pPr marL="285750" indent="-285750">
              <a:buFont typeface="Arial" panose="020B0604020202020204" pitchFamily="34" charset="0"/>
              <a:buChar char="•"/>
            </a:pPr>
            <a:r>
              <a:rPr lang="en-US" sz="1400" b="1" dirty="0"/>
              <a:t>Simplify deployment</a:t>
            </a:r>
            <a:r>
              <a:rPr lang="en-US" sz="1400" dirty="0"/>
              <a:t> by running the same application on any system without compatibility issues.</a:t>
            </a:r>
          </a:p>
          <a:p>
            <a:pPr marL="285750" indent="-285750">
              <a:buFont typeface="Arial" panose="020B0604020202020204" pitchFamily="34" charset="0"/>
              <a:buChar char="•"/>
            </a:pPr>
            <a:r>
              <a:rPr lang="en-US" sz="1400" b="1" dirty="0"/>
              <a:t>Improve scalability</a:t>
            </a:r>
            <a:r>
              <a:rPr lang="en-US" sz="1400" dirty="0"/>
              <a:t> by quickly spinning up multiple containers as needed.</a:t>
            </a:r>
          </a:p>
          <a:p>
            <a:pPr marL="285750" indent="-285750">
              <a:buFont typeface="Arial" panose="020B0604020202020204" pitchFamily="34" charset="0"/>
              <a:buChar char="•"/>
            </a:pPr>
            <a:r>
              <a:rPr lang="en-US" sz="1400" b="1" dirty="0"/>
              <a:t>Enhance efficiency</a:t>
            </a:r>
            <a:r>
              <a:rPr lang="en-US" sz="1400" dirty="0"/>
              <a:t> by using lightweight, fast-starting containers instead of traditional virtual machines.</a:t>
            </a:r>
          </a:p>
          <a:p>
            <a:endParaRPr lang="en-US" sz="1400" dirty="0"/>
          </a:p>
          <a:p>
            <a:r>
              <a:rPr lang="en-US" sz="1400" b="1" dirty="0"/>
              <a:t>Example:</a:t>
            </a:r>
            <a:r>
              <a:rPr lang="en-US" sz="1400" dirty="0"/>
              <a:t> A developer can create a </a:t>
            </a:r>
            <a:r>
              <a:rPr lang="en-US" sz="1400" b="1" dirty="0"/>
              <a:t>Docker container</a:t>
            </a:r>
            <a:r>
              <a:rPr lang="en-US" sz="1400" dirty="0"/>
              <a:t> for a web application and run it on their laptop, a cloud server, or even Kubernetes without worrying about system differences.</a:t>
            </a:r>
          </a:p>
        </p:txBody>
      </p:sp>
      <p:pic>
        <p:nvPicPr>
          <p:cNvPr id="12" name="Picture 11">
            <a:extLst>
              <a:ext uri="{FF2B5EF4-FFF2-40B4-BE49-F238E27FC236}">
                <a16:creationId xmlns:a16="http://schemas.microsoft.com/office/drawing/2014/main" id="{7C7AB2FD-2898-69AC-DDC8-374C24BD7C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903" y="1694217"/>
            <a:ext cx="5965795" cy="3149824"/>
          </a:xfrm>
          <a:prstGeom prst="rect">
            <a:avLst/>
          </a:prstGeom>
        </p:spPr>
      </p:pic>
    </p:spTree>
    <p:extLst>
      <p:ext uri="{BB962C8B-B14F-4D97-AF65-F5344CB8AC3E}">
        <p14:creationId xmlns:p14="http://schemas.microsoft.com/office/powerpoint/2010/main" val="1630656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C4997-6DEE-B3C0-BEE1-C346915A15FB}"/>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D7A0D998-E6DC-DF91-FD97-2AAB9A48E97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24125" y="899968"/>
            <a:ext cx="7143750" cy="4762500"/>
          </a:xfrm>
          <a:prstGeom prst="rect">
            <a:avLst/>
          </a:prstGeom>
        </p:spPr>
      </p:pic>
      <p:pic>
        <p:nvPicPr>
          <p:cNvPr id="7" name="Picture 6">
            <a:extLst>
              <a:ext uri="{FF2B5EF4-FFF2-40B4-BE49-F238E27FC236}">
                <a16:creationId xmlns:a16="http://schemas.microsoft.com/office/drawing/2014/main" id="{B4CA2945-D3F9-B578-8A6F-526A3B1A32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2169" y="5739954"/>
            <a:ext cx="2569614" cy="775841"/>
          </a:xfrm>
          <a:prstGeom prst="rect">
            <a:avLst/>
          </a:prstGeom>
        </p:spPr>
      </p:pic>
      <p:pic>
        <p:nvPicPr>
          <p:cNvPr id="11" name="Graphic 10">
            <a:extLst>
              <a:ext uri="{FF2B5EF4-FFF2-40B4-BE49-F238E27FC236}">
                <a16:creationId xmlns:a16="http://schemas.microsoft.com/office/drawing/2014/main" id="{1F227A31-1541-90AE-8577-6E5F305C21A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62764" y="5758188"/>
            <a:ext cx="2133600" cy="647421"/>
          </a:xfrm>
          <a:prstGeom prst="rect">
            <a:avLst/>
          </a:prstGeom>
        </p:spPr>
      </p:pic>
      <p:pic>
        <p:nvPicPr>
          <p:cNvPr id="15" name="Picture 14">
            <a:extLst>
              <a:ext uri="{FF2B5EF4-FFF2-40B4-BE49-F238E27FC236}">
                <a16:creationId xmlns:a16="http://schemas.microsoft.com/office/drawing/2014/main" id="{158D807A-08BC-5BCB-ACA4-6385F223DEFA}"/>
              </a:ext>
            </a:extLst>
          </p:cNvPr>
          <p:cNvPicPr>
            <a:picLocks noChangeAspect="1"/>
          </p:cNvPicPr>
          <p:nvPr/>
        </p:nvPicPr>
        <p:blipFill rotWithShape="1">
          <a:blip r:embed="rId7">
            <a:extLst>
              <a:ext uri="{28A0092B-C50C-407E-A947-70E740481C1C}">
                <a14:useLocalDpi xmlns:a14="http://schemas.microsoft.com/office/drawing/2010/main" val="0"/>
              </a:ext>
            </a:extLst>
          </a:blip>
          <a:srcRect t="24970"/>
          <a:stretch/>
        </p:blipFill>
        <p:spPr>
          <a:xfrm>
            <a:off x="8047345" y="5772728"/>
            <a:ext cx="2416717" cy="693854"/>
          </a:xfrm>
          <a:prstGeom prst="rect">
            <a:avLst/>
          </a:prstGeom>
        </p:spPr>
      </p:pic>
    </p:spTree>
    <p:extLst>
      <p:ext uri="{BB962C8B-B14F-4D97-AF65-F5344CB8AC3E}">
        <p14:creationId xmlns:p14="http://schemas.microsoft.com/office/powerpoint/2010/main" val="25520672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893</TotalTime>
  <Words>1132</Words>
  <Application>Microsoft Office PowerPoint</Application>
  <PresentationFormat>Widescreen</PresentationFormat>
  <Paragraphs>71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1. What Are Large Language Models (LLMs)?</vt:lpstr>
      <vt:lpstr>What is processor </vt:lpstr>
      <vt:lpstr>PowerPoint Presentation</vt:lpstr>
      <vt:lpstr>Type of processor </vt:lpstr>
      <vt:lpstr>Type of processor </vt:lpstr>
      <vt:lpstr>Type of processor </vt:lpstr>
      <vt:lpstr>Type of processor </vt:lpstr>
      <vt:lpstr>Core Differences</vt:lpstr>
      <vt:lpstr>CPU and GPU  company's </vt:lpstr>
      <vt:lpstr>What is Docker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gowtham kumar</dc:creator>
  <cp:lastModifiedBy>Mukesh Pal</cp:lastModifiedBy>
  <cp:revision>6</cp:revision>
  <dcterms:created xsi:type="dcterms:W3CDTF">2025-02-14T18:25:40Z</dcterms:created>
  <dcterms:modified xsi:type="dcterms:W3CDTF">2025-02-15T10:26:32Z</dcterms:modified>
</cp:coreProperties>
</file>